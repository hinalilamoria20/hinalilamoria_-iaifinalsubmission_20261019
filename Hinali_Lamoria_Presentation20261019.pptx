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5"/>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  <Relationship Id="rId15" Type="http://schemas.openxmlformats.org/officeDocument/2006/relationships/slide" Target="slides/slide9.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Arial"/>
              </a:defRPr>
            </a:pPr>
            <a:r>
              <a:rPr sz="1200" b="0" i="0" u="none" strike="noStrike">
                <a:solidFill>
                  <a:srgbClr val="14213D"/>
                </a:solidFill>
                <a:latin typeface="Arial"/>
              </a:rPr>
              <a:t>Logistics cost as % of GDP</a:t>
            </a:r>
          </a:p>
        </c:rich>
      </c:tx>
      <c:layout/>
      <c:overlay val="0"/>
    </c:title>
    <c:autoTitleDeleted val="0"/>
    <c:plotArea>
      <c:layout/>
      <c:barChart>
        <c:barDir val="col"/>
        <c:grouping val="clustered"/>
        <c:varyColors val="0"/>
        <c:ser>
          <c:idx val="0"/>
          <c:order val="0"/>
          <c:tx>
            <c:strRef>
              <c:f>Sheet1!$B$1</c:f>
              <c:strCache>
                <c:ptCount val="1"/>
                <c:pt idx="0">
                  <c:v>% of GDP</c:v>
                </c:pt>
              </c:strCache>
            </c:strRef>
          </c:tx>
          <c:spPr>
            <a:solidFill>
              <a:srgbClr val="F2A541"/>
            </a:solidFill>
            <a:effectLst/>
          </c:spPr>
          <c:invertIfNegative val="0"/>
          <c:dLbls>
            <c:numFmt formatCode="0.0#" sourceLinked="0"/>
            <c:txPr>
              <a:bodyPr/>
              <a:lstStyle/>
              <a:p>
                <a:pPr>
                  <a:defRPr b="0" i="0" strike="noStrike" sz="1100" u="none">
                    <a:solidFill>
                      <a:srgbClr val="22303C"/>
                    </a:solidFill>
                    <a:latin typeface="Arial"/>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0F8B8D"/>
              </a:solidFill>
              <a:effectLst/>
            </c:spPr>
          </c:dPt>
          <c:dPt>
            <c:idx val="2"/>
            <c:invertIfNegative val="0"/>
            <c:bubble3D val="0"/>
            <c:spPr>
              <a:solidFill>
                <a:srgbClr val="14213D"/>
              </a:solidFill>
              <a:effectLst/>
            </c:spPr>
          </c:dPt>
          <c:cat>
            <c:multiLvlStrRef>
              <c:f>Sheet1!$A$2:$A$4</c:f>
              <c:multiLvlStrCache>
                <c:ptCount val="3"/>
                <c:lvl>
                  <c:pt idx="0">
                    <c:v>A decade ago</c:v>
                  </c:pt>
                  <c:pt idx="1">
                    <c:v>FY2026 (CII–KF)</c:v>
                  </c:pt>
                  <c:pt idx="2">
                    <c:v>2023–24 (DPIIT–NCAER)</c:v>
                  </c:pt>
                </c:lvl>
              </c:multiLvlStrCache>
            </c:multiLvlStrRef>
          </c:cat>
          <c:val>
            <c:numRef>
              <c:f>Sheet1!$B$2:$B$4</c:f>
              <c:numCache>
                <c:formatCode>General</c:formatCode>
                <c:ptCount val="3"/>
                <c:pt idx="0">
                  <c:v>14</c:v>
                </c:pt>
                <c:pt idx="1">
                  <c:v>10.7</c:v>
                </c:pt>
                <c:pt idx="2">
                  <c:v>7.97</c:v>
                </c:pt>
              </c:numCache>
            </c:numRef>
          </c:val>
        </c:ser>
        <c:dLbls>
          <c:numFmt formatCode="0.0#" sourceLinked="0"/>
          <c:txPr>
            <a:bodyPr/>
            <a:lstStyle/>
            <a:p>
              <a:pPr>
                <a:defRPr b="0" i="0" strike="noStrike" sz="1100" u="none">
                  <a:solidFill>
                    <a:srgbClr val="2230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7"/>
                </a:solidFill>
                <a:latin typeface="Arial"/>
              </a:defRPr>
            </a:pPr>
            <a:endParaRPr lang="en-US"/>
          </a:p>
        </c:txPr>
        <c:crossAx val="2094734552"/>
        <c:crosses val="autoZero"/>
        <c:auto val="1"/>
        <c:lblAlgn val="ctr"/>
        <c:noMultiLvlLbl val="1"/>
      </c:catAx>
      <c:valAx>
        <c:axId val="2094734552"/>
        <c:scaling>
          <c:orientation val="minMax"/>
          <c:max val="1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4213D"/>
                </a:solidFill>
                <a:latin typeface="Arial"/>
              </a:defRPr>
            </a:pPr>
            <a:r>
              <a:rPr sz="1100" b="0" i="0" u="none" strike="noStrike">
                <a:solidFill>
                  <a:srgbClr val="14213D"/>
                </a:solidFill>
                <a:latin typeface="Arial"/>
              </a:rPr>
              <a:t>Delhivery automated sort capacity (million shipments/day)</a:t>
            </a:r>
          </a:p>
        </c:rich>
      </c:tx>
      <c:layout/>
      <c:overlay val="0"/>
    </c:title>
    <c:autoTitleDeleted val="0"/>
    <c:plotArea>
      <c:layout/>
      <c:barChart>
        <c:barDir val="col"/>
        <c:grouping val="clustered"/>
        <c:varyColors val="0"/>
        <c:ser>
          <c:idx val="0"/>
          <c:order val="0"/>
          <c:tx>
            <c:strRef>
              <c:f>Sheet1!$B$1</c:f>
              <c:strCache>
                <c:ptCount val="1"/>
                <c:pt idx="0">
                  <c:v>M/day</c:v>
                </c:pt>
              </c:strCache>
            </c:strRef>
          </c:tx>
          <c:spPr>
            <a:solidFill>
              <a:srgbClr val="F2A541"/>
            </a:solidFill>
            <a:effectLst/>
          </c:spPr>
          <c:invertIfNegative val="0"/>
          <c:dLbls>
            <c:numFmt formatCode="0.0#" sourceLinked="0"/>
            <c:txPr>
              <a:bodyPr/>
              <a:lstStyle/>
              <a:p>
                <a:pPr>
                  <a:defRPr b="0" i="0" strike="noStrike" sz="1100" u="none">
                    <a:solidFill>
                      <a:srgbClr val="22303C"/>
                    </a:solidFill>
                    <a:latin typeface="Arial"/>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0F8B8D"/>
              </a:solidFill>
              <a:effectLst/>
            </c:spPr>
          </c:dPt>
          <c:cat>
            <c:multiLvlStrRef>
              <c:f>Sheet1!$A$2:$A$3</c:f>
              <c:multiLvlStrCache>
                <c:ptCount val="2"/>
                <c:lvl>
                  <c:pt idx="0">
                    <c:v>Dec 2021</c:v>
                  </c:pt>
                  <c:pt idx="1">
                    <c:v>Mar 2025</c:v>
                  </c:pt>
                </c:lvl>
              </c:multiLvlStrCache>
            </c:multiLvlStrRef>
          </c:cat>
          <c:val>
            <c:numRef>
              <c:f>Sheet1!$B$2:$B$3</c:f>
              <c:numCache>
                <c:formatCode>General</c:formatCode>
                <c:ptCount val="2"/>
                <c:pt idx="0">
                  <c:v>3.7</c:v>
                </c:pt>
                <c:pt idx="1">
                  <c:v>8.2</c:v>
                </c:pt>
              </c:numCache>
            </c:numRef>
          </c:val>
        </c:ser>
        <c:dLbls>
          <c:numFmt formatCode="0.0#" sourceLinked="0"/>
          <c:txPr>
            <a:bodyPr/>
            <a:lstStyle/>
            <a:p>
              <a:pPr>
                <a:defRPr b="0" i="0" strike="noStrike" sz="1100" u="none">
                  <a:solidFill>
                    <a:srgbClr val="2230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7"/>
                </a:solidFill>
                <a:latin typeface="Arial"/>
              </a:defRPr>
            </a:pPr>
            <a:endParaRPr lang="en-US"/>
          </a:p>
        </c:txPr>
        <c:crossAx val="2094734552"/>
        <c:crosses val="autoZero"/>
        <c:auto val="1"/>
        <c:lblAlgn val="ctr"/>
        <c:noMultiLvlLbl val="1"/>
      </c:catAx>
      <c:valAx>
        <c:axId val="2094734552"/>
        <c:scaling>
          <c:orientation val="minMax"/>
          <c:max val="1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4213D"/>
                </a:solidFill>
                <a:latin typeface="Arial"/>
              </a:defRPr>
            </a:pPr>
            <a:r>
              <a:rPr sz="1100" b="0" i="0" u="none" strike="noStrike">
                <a:solidFill>
                  <a:srgbClr val="14213D"/>
                </a:solidFill>
                <a:latin typeface="Arial"/>
              </a:rPr>
              <a:t>Reported fuel savings from AI routing (%)</a:t>
            </a:r>
          </a:p>
        </c:rich>
      </c:tx>
      <c:layout/>
      <c:overlay val="0"/>
    </c:title>
    <c:autoTitleDeleted val="0"/>
    <c:plotArea>
      <c:layout/>
      <c:barChart>
        <c:barDir val="col"/>
        <c:grouping val="clustered"/>
        <c:varyColors val="0"/>
        <c:ser>
          <c:idx val="0"/>
          <c:order val="0"/>
          <c:tx>
            <c:strRef>
              <c:f>Sheet1!$B$1</c:f>
              <c:strCache>
                <c:ptCount val="1"/>
                <c:pt idx="0">
                  <c:v>%</c:v>
                </c:pt>
              </c:strCache>
            </c:strRef>
          </c:tx>
          <c:spPr>
            <a:solidFill>
              <a:srgbClr val="0F8B8D"/>
            </a:solidFill>
            <a:effectLst/>
          </c:spPr>
          <c:invertIfNegative val="0"/>
          <c:dLbls>
            <c:numFmt formatCode="0.0#" sourceLinked="0"/>
            <c:txPr>
              <a:bodyPr/>
              <a:lstStyle/>
              <a:p>
                <a:pPr>
                  <a:defRPr b="0" i="0" strike="noStrike" sz="1100" u="none">
                    <a:solidFill>
                      <a:srgbClr val="22303C"/>
                    </a:solidFill>
                    <a:latin typeface="Arial"/>
                  </a:defRPr>
                </a:pPr>
              </a:p>
            </c:txPr>
            <c:showLegendKey val="0"/>
            <c:showVal val="1"/>
            <c:showCatName val="0"/>
            <c:showSerName val="0"/>
            <c:showPercent val="0"/>
            <c:showBubbleSize val="0"/>
            <c:showLeaderLines val="0"/>
          </c:dLbls>
          <c:dPt>
            <c:idx val="0"/>
            <c:invertIfNegative val="0"/>
            <c:bubble3D val="0"/>
            <c:spPr>
              <a:solidFill>
                <a:srgbClr val="0F8B8D"/>
              </a:solidFill>
              <a:effectLst/>
            </c:spPr>
          </c:dPt>
          <c:dPt>
            <c:idx val="1"/>
            <c:invertIfNegative val="0"/>
            <c:bubble3D val="0"/>
            <c:spPr>
              <a:solidFill>
                <a:srgbClr val="0F8B8D"/>
              </a:solidFill>
              <a:effectLst/>
            </c:spPr>
          </c:dPt>
          <c:dPt>
            <c:idx val="2"/>
            <c:invertIfNegative val="0"/>
            <c:bubble3D val="0"/>
            <c:spPr>
              <a:solidFill>
                <a:srgbClr val="F2A541"/>
              </a:solidFill>
              <a:effectLst/>
            </c:spPr>
          </c:dPt>
          <c:cat>
            <c:multiLvlStrRef>
              <c:f>Sheet1!$A$2:$A$4</c:f>
              <c:multiLvlStrCache>
                <c:ptCount val="3"/>
                <c:lvl>
                  <c:pt idx="0">
                    <c:v>Maersk (low)</c:v>
                  </c:pt>
                  <c:pt idx="1">
                    <c:v>Maersk (high)</c:v>
                  </c:pt>
                  <c:pt idx="2">
                    <c:v>EU trucking firm</c:v>
                  </c:pt>
                </c:lvl>
              </c:multiLvlStrCache>
            </c:multiLvlStrRef>
          </c:cat>
          <c:val>
            <c:numRef>
              <c:f>Sheet1!$B$2:$B$4</c:f>
              <c:numCache>
                <c:formatCode>General</c:formatCode>
                <c:ptCount val="3"/>
                <c:pt idx="0">
                  <c:v>9.2</c:v>
                </c:pt>
                <c:pt idx="1">
                  <c:v>12</c:v>
                </c:pt>
                <c:pt idx="2">
                  <c:v>15</c:v>
                </c:pt>
              </c:numCache>
            </c:numRef>
          </c:val>
        </c:ser>
        <c:dLbls>
          <c:numFmt formatCode="0.0#" sourceLinked="0"/>
          <c:txPr>
            <a:bodyPr/>
            <a:lstStyle/>
            <a:p>
              <a:pPr>
                <a:defRPr b="0" i="0" strike="noStrike" sz="1100" u="none">
                  <a:solidFill>
                    <a:srgbClr val="2230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7"/>
                </a:solidFill>
                <a:latin typeface="Arial"/>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Good morning. Today we explain how AI can help Indian logistics companies deliver on time, spend less on fuel and handle swings in demand. We will cover the industry, the problems, their causes, what Delhivery, Amazon and Maersk have done, and finish with one overall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A supply chain is the whole journey of a product. Logistics is the moving and storing part: trucks, warehouses and last-mile delivery. India’s logistics market is about 240 billion dollars. Logistics cost has fallen from about 13 to 14 percent of GDP a decade ago to roughly 8 to 11 percent today, depending on how it is measured. But about 75 percent of truck owners have fewer than five trucks and little tracking. Policies like the National Logistics Policy and PM GatiShakti are building a digital backbone.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Companies face three linked problems. First, late deliveries: they cost trust, penalties and contracts. Second, fuel: it is 50 to 60 percent of fleet operating cost, and ICRA expects margins to fall by up to 200 basis points in FY2027. Third, unpredictable demand from festivals and e-commerce sales leaves trucks idle or overloaded. These feed each other, like dominoes: wrong demand guess, unbalanced loads, delays and extra trips, more fuel, thinner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Looking at causes, delays come from fixed, manual route plans, little visibility of vehicles, and slow manual warehouse handling. High fuel cost comes from poor routes, half-empty trucks and empty return trips, plus an oversupplied market where freight rates follow demand, so fuel costs cannot be passed on. Demand surprises come from forecasts based on past averages and data stuck in separate systems. The common root is decisions made on limited, late data. AI helps with that. It cannot change diesel prices or road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30) Delhivery, in India, replaced manual sorting with 45 automated or semi-automated sort centres and used an optimisation solver to allocate shipments. Rated automated capacity grew from 3.7 million to 8.2 million shipments a day. Amazon forecasts demand by region, stores stock near customers, and uses robots: about 74 percent of US orders were fulfilled within the customer’s region and 75 percent were touched by robotics in 2023. Maersk uses digital twins, which are virtual copies of voyages, to optimise speed and route; reported fuel savings are roughly 9 to 12 percent, though sources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15) Routing is like a GPS that learns. A-star search picks a path by adding the cost so far to a smart guess of what is left. In our example it finds a route costing 9 where basic search finds 10. Forecasting is like a weather forecast for shipments: it learns from past volumes, festivals and weather, and gives a range, such as a 70 percent chance volume exceeds a level. Our example error, MAPE, is about 10 percent. The warehouse tool is a smart packer: rules decide what to pick first, a knowledge graph links items, bins and vehicles, and robots and cameras sort parcels.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15) Our recommendation is one system built in three phases. Phase one, in the first six months: install tracking and clean the data, then use AI routing on busy corridors. It tackles delays and fuel together at low cost. Phase two, six to twelve months: add demand forecasting and link it to fleet and warehouse plans. Phase three, after a year: automate warehouses selectively at high-volume hubs, after a payback test, because robots pay back slowly where labour is cheap. Reported routing savings are about 9 to 15 percent. Even a cautious 8 to 12 percent is roughly 8 to 12 crore rupees per 100 crore of fuel spend. That figure is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To make it work responsibly: audit forecasts so under-served regions are not ignored, keep routes explainable with human override, protect driver GPS data under India’s Data Protection Act, and train staff before automation. Track success with six measures: on-time delivery, fuel per kilometre, forecast error, cost per drop, warehouse throughput and complaints. Remember that many figures we used come from companies and vendors, so real pilots should confirm them. To close: AI improves decision quality across routing, demand and warehouses, and works best when data, execution and ethics are all in place.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2514600"/>
            <a:ext cx="1280160" cy="64008"/>
          </a:xfrm>
          <a:prstGeom prst="rect">
            <a:avLst/>
          </a:prstGeom>
          <a:solidFill>
            <a:srgbClr val="F2A541"/>
          </a:solidFill>
          <a:ln w="12700">
            <a:solidFill>
              <a:srgbClr val="F2A541"/>
            </a:solidFill>
            <a:prstDash val="solid"/>
          </a:ln>
        </p:spPr>
      </p:sp>
      <p:sp>
        <p:nvSpPr>
          <p:cNvPr id="3" name="Text 1"/>
          <p:cNvSpPr txBox="1"/>
          <p:nvPr/>
        </p:nvSpPr>
        <p:spPr>
          <a:xfrm>
            <a:off x="548640" y="1051560"/>
            <a:ext cx="5669280" cy="914400"/>
          </a:xfrm>
          <a:prstGeom prst="rect">
            <a:avLst/>
          </a:prstGeom>
          <a:noFill/>
          <a:ln/>
        </p:spPr>
        <p:txBody>
          <a:bodyPr wrap="square" lIns="0" tIns="0" rIns="0" bIns="0" rtlCol="0" anchor="ctr"/>
          <a:lstStyle/>
          <a:p>
            <a:pPr indent="0" marL="0">
              <a:buNone/>
            </a:pPr>
            <a:r>
              <a:rPr lang="en-US" sz="3400" b="1" dirty="0">
                <a:solidFill>
                  <a:srgbClr val="FFFFFF"/>
                </a:solidFill>
              </a:rPr>
              <a:t>AI in Supply Chain &amp; Logistics</a:t>
            </a:r>
            <a:endParaRPr lang="en-US" sz="3400" dirty="0"/>
          </a:p>
        </p:txBody>
      </p:sp>
      <p:sp>
        <p:nvSpPr>
          <p:cNvPr id="4" name="Text 2"/>
          <p:cNvSpPr txBox="1"/>
          <p:nvPr/>
        </p:nvSpPr>
        <p:spPr>
          <a:xfrm>
            <a:off x="548640" y="1920240"/>
            <a:ext cx="5669280" cy="548640"/>
          </a:xfrm>
          <a:prstGeom prst="rect">
            <a:avLst/>
          </a:prstGeom>
          <a:noFill/>
          <a:ln/>
        </p:spPr>
        <p:txBody>
          <a:bodyPr wrap="square" lIns="0" tIns="0" rIns="0" bIns="0" rtlCol="0" anchor="t"/>
          <a:lstStyle/>
          <a:p>
            <a:pPr indent="0" marL="0">
              <a:buNone/>
            </a:pPr>
            <a:r>
              <a:rPr lang="en-US" sz="1600" dirty="0">
                <a:solidFill>
                  <a:srgbClr val="C9D6E2"/>
                </a:solidFill>
              </a:rPr>
              <a:t>Fixing delays, fuel costs and demand swings in Indian logistics</a:t>
            </a:r>
            <a:endParaRPr lang="en-US" sz="1600" dirty="0"/>
          </a:p>
        </p:txBody>
      </p:sp>
      <p:sp>
        <p:nvSpPr>
          <p:cNvPr id="5" name="Text 3"/>
          <p:cNvSpPr txBox="1"/>
          <p:nvPr/>
        </p:nvSpPr>
        <p:spPr>
          <a:xfrm>
            <a:off x="548640" y="2743200"/>
            <a:ext cx="5669280" cy="365760"/>
          </a:xfrm>
          <a:prstGeom prst="rect">
            <a:avLst/>
          </a:prstGeom>
          <a:noFill/>
          <a:ln/>
        </p:spPr>
        <p:txBody>
          <a:bodyPr wrap="square" lIns="0" tIns="0" rIns="0" bIns="0" rtlCol="0" anchor="t"/>
          <a:lstStyle/>
          <a:p>
            <a:pPr indent="0" marL="0">
              <a:buNone/>
            </a:pPr>
            <a:r>
              <a:rPr lang="en-US" sz="1500" b="1" dirty="0">
                <a:solidFill>
                  <a:srgbClr val="F2A541"/>
                </a:solidFill>
              </a:rPr>
              <a:t>Learning from Delhivery, Amazon and Maersk</a:t>
            </a:r>
            <a:endParaRPr lang="en-US" sz="1500" dirty="0"/>
          </a:p>
        </p:txBody>
      </p:sp>
      <p:sp>
        <p:nvSpPr>
          <p:cNvPr id="6" name="Text 4"/>
          <p:cNvSpPr txBox="1"/>
          <p:nvPr/>
        </p:nvSpPr>
        <p:spPr>
          <a:xfrm>
            <a:off x="548640" y="4297680"/>
            <a:ext cx="8046720" cy="320040"/>
          </a:xfrm>
          <a:prstGeom prst="rect">
            <a:avLst/>
          </a:prstGeom>
          <a:noFill/>
          <a:ln/>
        </p:spPr>
        <p:txBody>
          <a:bodyPr wrap="square" lIns="0" tIns="0" rIns="0" bIns="0" rtlCol="0" anchor="t"/>
          <a:lstStyle/>
          <a:p>
            <a:pPr indent="0" marL="0">
              <a:buNone/>
            </a:pPr>
            <a:r>
              <a:rPr lang="en-US" sz="1200" dirty="0">
                <a:solidFill>
                  <a:srgbClr val="C9D6E2"/>
                </a:solidFill>
              </a:rPr>
              <a:t>Group presentation | [Team member names] | [Course] | [Date]</a:t>
            </a:r>
            <a:endParaRPr lang="en-US" sz="1200" dirty="0"/>
          </a:p>
        </p:txBody>
      </p:sp>
      <p:sp>
        <p:nvSpPr>
          <p:cNvPr id="7" name="Shape 5"/>
          <p:cNvSpPr/>
          <p:nvPr/>
        </p:nvSpPr>
        <p:spPr>
          <a:xfrm>
            <a:off x="6949440" y="1097280"/>
            <a:ext cx="1005840" cy="1005840"/>
          </a:xfrm>
          <a:prstGeom prst="ellipse">
            <a:avLst/>
          </a:prstGeom>
          <a:solidFill>
            <a:srgbClr val="0F8B8D"/>
          </a:solidFill>
          <a:ln w="12700">
            <a:solidFill>
              <a:srgbClr val="0F8B8D"/>
            </a:solidFill>
            <a:prstDash val="solid"/>
          </a:ln>
        </p:spPr>
      </p:sp>
      <p:pic>
        <p:nvPicPr>
          <p:cNvPr id="8" name="Image 0" descr="preencoded.png">    </p:cNvPr>
          <p:cNvPicPr>
            <a:picLocks noChangeAspect="1"/>
          </p:cNvPicPr>
          <p:nvPr/>
        </p:nvPicPr>
        <p:blipFill>
          <a:blip r:embed="rId1"/>
          <a:stretch>
            <a:fillRect/>
          </a:stretch>
        </p:blipFill>
        <p:spPr>
          <a:xfrm>
            <a:off x="7200900" y="1348740"/>
            <a:ext cx="502920" cy="502920"/>
          </a:xfrm>
          <a:prstGeom prst="rect">
            <a:avLst/>
          </a:prstGeom>
        </p:spPr>
      </p:pic>
      <p:sp>
        <p:nvSpPr>
          <p:cNvPr id="9" name="Shape 6"/>
          <p:cNvSpPr/>
          <p:nvPr/>
        </p:nvSpPr>
        <p:spPr>
          <a:xfrm>
            <a:off x="7680960" y="2103120"/>
            <a:ext cx="1005840" cy="100584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7932420" y="2354580"/>
            <a:ext cx="502920" cy="502920"/>
          </a:xfrm>
          <a:prstGeom prst="rect">
            <a:avLst/>
          </a:prstGeom>
        </p:spPr>
      </p:pic>
      <p:sp>
        <p:nvSpPr>
          <p:cNvPr id="11" name="Shape 7"/>
          <p:cNvSpPr/>
          <p:nvPr/>
        </p:nvSpPr>
        <p:spPr>
          <a:xfrm>
            <a:off x="6583680" y="2834640"/>
            <a:ext cx="1005840" cy="1005840"/>
          </a:xfrm>
          <a:prstGeom prst="ellipse">
            <a:avLst/>
          </a:prstGeom>
          <a:solidFill>
            <a:srgbClr val="3D5A80"/>
          </a:solidFill>
          <a:ln w="12700">
            <a:solidFill>
              <a:srgbClr val="3D5A80"/>
            </a:solidFill>
            <a:prstDash val="solid"/>
          </a:ln>
        </p:spPr>
      </p:sp>
      <p:pic>
        <p:nvPicPr>
          <p:cNvPr id="12" name="Image 2" descr="preencoded.png">    </p:cNvPr>
          <p:cNvPicPr>
            <a:picLocks noChangeAspect="1"/>
          </p:cNvPicPr>
          <p:nvPr/>
        </p:nvPicPr>
        <p:blipFill>
          <a:blip r:embed="rId3"/>
          <a:stretch>
            <a:fillRect/>
          </a:stretch>
        </p:blipFill>
        <p:spPr>
          <a:xfrm>
            <a:off x="6835140" y="308610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The industry: how goods get from maker to customer</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India is improving fast, but many small, untracked operators still waste time and fuel.</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Sources: FreightAmigo 2026; DPIIT–NCAER via India Sea Trade News 2026; CII–Knight Frank via The Statesman 2026; Redseer. Estimates use different definitions.</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2</a:t>
            </a:r>
            <a:endParaRPr lang="en-US" sz="900" dirty="0"/>
          </a:p>
        </p:txBody>
      </p:sp>
      <p:sp>
        <p:nvSpPr>
          <p:cNvPr id="10" name="Shape 7"/>
          <p:cNvSpPr/>
          <p:nvPr/>
        </p:nvSpPr>
        <p:spPr>
          <a:xfrm>
            <a:off x="457200" y="1097280"/>
            <a:ext cx="4023360" cy="1188720"/>
          </a:xfrm>
          <a:prstGeom prst="roundRect">
            <a:avLst>
              <a:gd name="adj" fmla="val 6154"/>
            </a:avLst>
          </a:prstGeom>
          <a:solidFill>
            <a:srgbClr val="FFFFFF"/>
          </a:solidFill>
          <a:ln w="12700">
            <a:solidFill>
              <a:srgbClr val="DDE3EA"/>
            </a:solidFill>
            <a:prstDash val="solid"/>
          </a:ln>
        </p:spPr>
      </p:sp>
      <p:sp>
        <p:nvSpPr>
          <p:cNvPr id="11" name="Text 8"/>
          <p:cNvSpPr txBox="1"/>
          <p:nvPr/>
        </p:nvSpPr>
        <p:spPr>
          <a:xfrm>
            <a:off x="594360" y="1170432"/>
            <a:ext cx="3749040" cy="1051560"/>
          </a:xfrm>
          <a:prstGeom prst="rect">
            <a:avLst/>
          </a:prstGeom>
          <a:noFill/>
          <a:ln/>
        </p:spPr>
        <p:txBody>
          <a:bodyPr wrap="square" lIns="0" tIns="0" rIns="0" bIns="0" rtlCol="0" anchor="ctr"/>
          <a:lstStyle/>
          <a:p>
            <a:pPr indent="0" marL="0">
              <a:buNone/>
            </a:pPr>
            <a:r>
              <a:rPr lang="en-US" sz="1150" b="1" dirty="0">
                <a:solidFill>
                  <a:srgbClr val="22303C"/>
                </a:solidFill>
              </a:rPr>
              <a:t>Supply chain: </a:t>
            </a:r>
            <a:pPr indent="0" marL="0">
              <a:buNone/>
            </a:pPr>
            <a:r>
              <a:rPr lang="en-US" sz="1150" dirty="0">
                <a:solidFill>
                  <a:srgbClr val="22303C"/>
                </a:solidFill>
              </a:rPr>
              <a:t>the whole journey of a product, from raw material to your door.</a:t>
            </a:r>
            <a:endParaRPr lang="en-US" sz="1150" dirty="0"/>
          </a:p>
          <a:p>
            <a:pPr indent="0" marL="0">
              <a:buNone/>
            </a:pPr>
            <a:r>
              <a:rPr lang="en-US" sz="1150" b="1" dirty="0">
                <a:solidFill>
                  <a:srgbClr val="22303C"/>
                </a:solidFill>
              </a:rPr>
              <a:t>Logistics: </a:t>
            </a:r>
            <a:pPr indent="0" marL="0">
              <a:buNone/>
            </a:pPr>
            <a:r>
              <a:rPr lang="en-US" sz="1150" dirty="0">
                <a:solidFill>
                  <a:srgbClr val="22303C"/>
                </a:solidFill>
              </a:rPr>
              <a:t>the moving and storing: trucks, warehouses, last-mile delivery.</a:t>
            </a:r>
            <a:endParaRPr lang="en-US" sz="1150" dirty="0"/>
          </a:p>
        </p:txBody>
      </p:sp>
      <p:sp>
        <p:nvSpPr>
          <p:cNvPr id="12" name="Shape 9"/>
          <p:cNvSpPr/>
          <p:nvPr/>
        </p:nvSpPr>
        <p:spPr>
          <a:xfrm>
            <a:off x="457200" y="2423160"/>
            <a:ext cx="1280160" cy="1645920"/>
          </a:xfrm>
          <a:prstGeom prst="roundRect">
            <a:avLst>
              <a:gd name="adj" fmla="val 5714"/>
            </a:avLst>
          </a:prstGeom>
          <a:solidFill>
            <a:srgbClr val="FFFFFF"/>
          </a:solidFill>
          <a:ln w="12700">
            <a:solidFill>
              <a:srgbClr val="DDE3EA"/>
            </a:solidFill>
            <a:prstDash val="solid"/>
          </a:ln>
        </p:spPr>
      </p:sp>
      <p:sp>
        <p:nvSpPr>
          <p:cNvPr id="13" name="Text 10"/>
          <p:cNvSpPr txBox="1"/>
          <p:nvPr/>
        </p:nvSpPr>
        <p:spPr>
          <a:xfrm>
            <a:off x="548640" y="2514600"/>
            <a:ext cx="1097280" cy="740664"/>
          </a:xfrm>
          <a:prstGeom prst="rect">
            <a:avLst/>
          </a:prstGeom>
          <a:noFill/>
          <a:ln/>
        </p:spPr>
        <p:txBody>
          <a:bodyPr wrap="square" lIns="0" tIns="0" rIns="0" bIns="0" rtlCol="0" anchor="ctr"/>
          <a:lstStyle/>
          <a:p>
            <a:pPr algn="ctr" indent="0" marL="0">
              <a:buNone/>
            </a:pPr>
            <a:r>
              <a:rPr lang="en-US" sz="2000" b="1" dirty="0">
                <a:solidFill>
                  <a:srgbClr val="0F8B8D"/>
                </a:solidFill>
              </a:rPr>
              <a:t>$240.5B</a:t>
            </a:r>
            <a:endParaRPr lang="en-US" sz="2000" dirty="0"/>
          </a:p>
        </p:txBody>
      </p:sp>
      <p:sp>
        <p:nvSpPr>
          <p:cNvPr id="14" name="Text 11"/>
          <p:cNvSpPr txBox="1"/>
          <p:nvPr/>
        </p:nvSpPr>
        <p:spPr>
          <a:xfrm>
            <a:off x="548640" y="3328416"/>
            <a:ext cx="1097280" cy="658368"/>
          </a:xfrm>
          <a:prstGeom prst="rect">
            <a:avLst/>
          </a:prstGeom>
          <a:noFill/>
          <a:ln/>
        </p:spPr>
        <p:txBody>
          <a:bodyPr wrap="square" lIns="0" tIns="0" rIns="0" bIns="0" rtlCol="0" anchor="t"/>
          <a:lstStyle/>
          <a:p>
            <a:pPr algn="ctr" indent="0" marL="0">
              <a:buNone/>
            </a:pPr>
            <a:r>
              <a:rPr lang="en-US" sz="1050" dirty="0">
                <a:solidFill>
                  <a:srgbClr val="22303C"/>
                </a:solidFill>
              </a:rPr>
              <a:t>India logistics market, 2025</a:t>
            </a:r>
            <a:endParaRPr lang="en-US" sz="1050" dirty="0"/>
          </a:p>
        </p:txBody>
      </p:sp>
      <p:sp>
        <p:nvSpPr>
          <p:cNvPr id="15" name="Shape 12"/>
          <p:cNvSpPr/>
          <p:nvPr/>
        </p:nvSpPr>
        <p:spPr>
          <a:xfrm>
            <a:off x="1828800" y="2423160"/>
            <a:ext cx="1280160" cy="1645920"/>
          </a:xfrm>
          <a:prstGeom prst="roundRect">
            <a:avLst>
              <a:gd name="adj" fmla="val 5714"/>
            </a:avLst>
          </a:prstGeom>
          <a:solidFill>
            <a:srgbClr val="FFFFFF"/>
          </a:solidFill>
          <a:ln w="12700">
            <a:solidFill>
              <a:srgbClr val="DDE3EA"/>
            </a:solidFill>
            <a:prstDash val="solid"/>
          </a:ln>
        </p:spPr>
      </p:sp>
      <p:sp>
        <p:nvSpPr>
          <p:cNvPr id="16" name="Text 13"/>
          <p:cNvSpPr txBox="1"/>
          <p:nvPr/>
        </p:nvSpPr>
        <p:spPr>
          <a:xfrm>
            <a:off x="1920240" y="2514600"/>
            <a:ext cx="1097280" cy="740664"/>
          </a:xfrm>
          <a:prstGeom prst="rect">
            <a:avLst/>
          </a:prstGeom>
          <a:noFill/>
          <a:ln/>
        </p:spPr>
        <p:txBody>
          <a:bodyPr wrap="square" lIns="0" tIns="0" rIns="0" bIns="0" rtlCol="0" anchor="ctr"/>
          <a:lstStyle/>
          <a:p>
            <a:pPr algn="ctr" indent="0" marL="0">
              <a:buNone/>
            </a:pPr>
            <a:r>
              <a:rPr lang="en-US" sz="2000" b="1" dirty="0">
                <a:solidFill>
                  <a:srgbClr val="0F8B8D"/>
                </a:solidFill>
              </a:rPr>
              <a:t>~75%</a:t>
            </a:r>
            <a:endParaRPr lang="en-US" sz="2000" dirty="0"/>
          </a:p>
        </p:txBody>
      </p:sp>
      <p:sp>
        <p:nvSpPr>
          <p:cNvPr id="17" name="Text 14"/>
          <p:cNvSpPr txBox="1"/>
          <p:nvPr/>
        </p:nvSpPr>
        <p:spPr>
          <a:xfrm>
            <a:off x="1920240" y="3328416"/>
            <a:ext cx="1097280" cy="658368"/>
          </a:xfrm>
          <a:prstGeom prst="rect">
            <a:avLst/>
          </a:prstGeom>
          <a:noFill/>
          <a:ln/>
        </p:spPr>
        <p:txBody>
          <a:bodyPr wrap="square" lIns="0" tIns="0" rIns="0" bIns="0" rtlCol="0" anchor="t"/>
          <a:lstStyle/>
          <a:p>
            <a:pPr algn="ctr" indent="0" marL="0">
              <a:buNone/>
            </a:pPr>
            <a:r>
              <a:rPr lang="en-US" sz="1050" dirty="0">
                <a:solidFill>
                  <a:srgbClr val="22303C"/>
                </a:solidFill>
              </a:rPr>
              <a:t>of truck owners have under 5 trucks</a:t>
            </a:r>
            <a:endParaRPr lang="en-US" sz="1050" dirty="0"/>
          </a:p>
        </p:txBody>
      </p:sp>
      <p:sp>
        <p:nvSpPr>
          <p:cNvPr id="18" name="Shape 15"/>
          <p:cNvSpPr/>
          <p:nvPr/>
        </p:nvSpPr>
        <p:spPr>
          <a:xfrm>
            <a:off x="3200400" y="2423160"/>
            <a:ext cx="1280160" cy="1645920"/>
          </a:xfrm>
          <a:prstGeom prst="roundRect">
            <a:avLst>
              <a:gd name="adj" fmla="val 5714"/>
            </a:avLst>
          </a:prstGeom>
          <a:solidFill>
            <a:srgbClr val="14213D"/>
          </a:solidFill>
          <a:ln w="12700">
            <a:solidFill>
              <a:srgbClr val="14213D"/>
            </a:solidFill>
            <a:prstDash val="solid"/>
          </a:ln>
        </p:spPr>
      </p:sp>
      <p:sp>
        <p:nvSpPr>
          <p:cNvPr id="19" name="Text 16"/>
          <p:cNvSpPr txBox="1"/>
          <p:nvPr/>
        </p:nvSpPr>
        <p:spPr>
          <a:xfrm>
            <a:off x="3291840" y="2514600"/>
            <a:ext cx="1097280" cy="740664"/>
          </a:xfrm>
          <a:prstGeom prst="rect">
            <a:avLst/>
          </a:prstGeom>
          <a:noFill/>
          <a:ln/>
        </p:spPr>
        <p:txBody>
          <a:bodyPr wrap="square" lIns="0" tIns="0" rIns="0" bIns="0" rtlCol="0" anchor="ctr"/>
          <a:lstStyle/>
          <a:p>
            <a:pPr algn="ctr" indent="0" marL="0">
              <a:buNone/>
            </a:pPr>
            <a:r>
              <a:rPr lang="en-US" sz="2000" b="1" dirty="0">
                <a:solidFill>
                  <a:srgbClr val="FFFFFF"/>
                </a:solidFill>
              </a:rPr>
              <a:t>38th</a:t>
            </a:r>
            <a:endParaRPr lang="en-US" sz="2000" dirty="0"/>
          </a:p>
        </p:txBody>
      </p:sp>
      <p:sp>
        <p:nvSpPr>
          <p:cNvPr id="20" name="Text 17"/>
          <p:cNvSpPr txBox="1"/>
          <p:nvPr/>
        </p:nvSpPr>
        <p:spPr>
          <a:xfrm>
            <a:off x="3291840" y="3328416"/>
            <a:ext cx="1097280" cy="658368"/>
          </a:xfrm>
          <a:prstGeom prst="rect">
            <a:avLst/>
          </a:prstGeom>
          <a:noFill/>
          <a:ln/>
        </p:spPr>
        <p:txBody>
          <a:bodyPr wrap="square" lIns="0" tIns="0" rIns="0" bIns="0" rtlCol="0" anchor="t"/>
          <a:lstStyle/>
          <a:p>
            <a:pPr algn="ctr" indent="0" marL="0">
              <a:buNone/>
            </a:pPr>
            <a:r>
              <a:rPr lang="en-US" sz="1050" dirty="0">
                <a:solidFill>
                  <a:srgbClr val="FFFFFF"/>
                </a:solidFill>
              </a:rPr>
              <a:t>India’s Logistics Performance Index rank, 2023</a:t>
            </a:r>
            <a:endParaRPr lang="en-US" sz="1050" dirty="0"/>
          </a:p>
        </p:txBody>
      </p:sp>
      <p:sp>
        <p:nvSpPr>
          <p:cNvPr id="21" name="Shape 18"/>
          <p:cNvSpPr/>
          <p:nvPr/>
        </p:nvSpPr>
        <p:spPr>
          <a:xfrm>
            <a:off x="4663440" y="1097280"/>
            <a:ext cx="4023360" cy="2971800"/>
          </a:xfrm>
          <a:prstGeom prst="roundRect">
            <a:avLst>
              <a:gd name="adj" fmla="val 2462"/>
            </a:avLst>
          </a:prstGeom>
          <a:solidFill>
            <a:srgbClr val="FFFFFF"/>
          </a:solidFill>
          <a:ln w="12700">
            <a:solidFill>
              <a:srgbClr val="DDE3EA"/>
            </a:solidFill>
            <a:prstDash val="solid"/>
          </a:ln>
        </p:spPr>
      </p:sp>
      <p:graphicFrame>
        <p:nvGraphicFramePr>
          <p:cNvPr id="22" name="Chart 0" descr=""/>
          <p:cNvGraphicFramePr/>
          <p:nvPr/>
        </p:nvGraphicFramePr>
        <p:xfrm>
          <a:off x="4754880" y="1188720"/>
          <a:ext cx="3840480" cy="27889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Problems faced: late, costly and unpredictable</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One early mistake in the chain multiplies into delays and wasted fuel later.</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ICRA via Enterprise AM 2026; CRISIL Intelligence 2026</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3</a:t>
            </a:r>
            <a:endParaRPr lang="en-US" sz="900" dirty="0"/>
          </a:p>
        </p:txBody>
      </p:sp>
      <p:sp>
        <p:nvSpPr>
          <p:cNvPr id="10" name="Shape 7"/>
          <p:cNvSpPr/>
          <p:nvPr/>
        </p:nvSpPr>
        <p:spPr>
          <a:xfrm>
            <a:off x="457200" y="1097280"/>
            <a:ext cx="2651760" cy="2286000"/>
          </a:xfrm>
          <a:prstGeom prst="roundRect">
            <a:avLst>
              <a:gd name="adj" fmla="val 3200"/>
            </a:avLst>
          </a:prstGeom>
          <a:solidFill>
            <a:srgbClr val="FFFFFF"/>
          </a:solidFill>
          <a:ln w="12700">
            <a:solidFill>
              <a:srgbClr val="DDE3EA"/>
            </a:solidFill>
            <a:prstDash val="solid"/>
          </a:ln>
        </p:spPr>
      </p:sp>
      <p:sp>
        <p:nvSpPr>
          <p:cNvPr id="11" name="Shape 8"/>
          <p:cNvSpPr/>
          <p:nvPr/>
        </p:nvSpPr>
        <p:spPr>
          <a:xfrm>
            <a:off x="594360" y="1188720"/>
            <a:ext cx="548640" cy="548640"/>
          </a:xfrm>
          <a:prstGeom prst="ellipse">
            <a:avLst/>
          </a:prstGeom>
          <a:solidFill>
            <a:srgbClr val="0F8B8D"/>
          </a:solidFill>
          <a:ln w="12700">
            <a:solidFill>
              <a:srgbClr val="0F8B8D"/>
            </a:solidFill>
            <a:prstDash val="solid"/>
          </a:ln>
        </p:spPr>
      </p:sp>
      <p:pic>
        <p:nvPicPr>
          <p:cNvPr id="12" name="Image 0" descr="preencoded.png">    </p:cNvPr>
          <p:cNvPicPr>
            <a:picLocks noChangeAspect="1"/>
          </p:cNvPicPr>
          <p:nvPr/>
        </p:nvPicPr>
        <p:blipFill>
          <a:blip r:embed="rId1"/>
          <a:stretch>
            <a:fillRect/>
          </a:stretch>
        </p:blipFill>
        <p:spPr>
          <a:xfrm>
            <a:off x="731520" y="1325880"/>
            <a:ext cx="274320" cy="274320"/>
          </a:xfrm>
          <a:prstGeom prst="rect">
            <a:avLst/>
          </a:prstGeom>
        </p:spPr>
      </p:pic>
      <p:sp>
        <p:nvSpPr>
          <p:cNvPr id="13" name="Text 9"/>
          <p:cNvSpPr txBox="1"/>
          <p:nvPr/>
        </p:nvSpPr>
        <p:spPr>
          <a:xfrm>
            <a:off x="1234440" y="1188720"/>
            <a:ext cx="1783080" cy="548640"/>
          </a:xfrm>
          <a:prstGeom prst="rect">
            <a:avLst/>
          </a:prstGeom>
          <a:noFill/>
          <a:ln/>
        </p:spPr>
        <p:txBody>
          <a:bodyPr wrap="square" lIns="0" tIns="0" rIns="0" bIns="0" rtlCol="0" anchor="ctr"/>
          <a:lstStyle/>
          <a:p>
            <a:pPr indent="0" marL="0">
              <a:buNone/>
            </a:pPr>
            <a:r>
              <a:rPr lang="en-US" sz="1400" b="1" dirty="0">
                <a:solidFill>
                  <a:srgbClr val="14213D"/>
                </a:solidFill>
              </a:rPr>
              <a:t>Late deliveries</a:t>
            </a:r>
            <a:endParaRPr lang="en-US" sz="1400" dirty="0"/>
          </a:p>
        </p:txBody>
      </p:sp>
      <p:sp>
        <p:nvSpPr>
          <p:cNvPr id="14" name="Text 10"/>
          <p:cNvSpPr txBox="1"/>
          <p:nvPr/>
        </p:nvSpPr>
        <p:spPr>
          <a:xfrm>
            <a:off x="594360" y="1828800"/>
            <a:ext cx="2377440" cy="411480"/>
          </a:xfrm>
          <a:prstGeom prst="rect">
            <a:avLst/>
          </a:prstGeom>
          <a:noFill/>
          <a:ln/>
        </p:spPr>
        <p:txBody>
          <a:bodyPr wrap="square" lIns="0" tIns="0" rIns="0" bIns="0" rtlCol="0" anchor="t"/>
          <a:lstStyle/>
          <a:p>
            <a:pPr indent="0" marL="0">
              <a:buNone/>
            </a:pPr>
            <a:r>
              <a:rPr lang="en-US" sz="2000" b="1" dirty="0">
                <a:solidFill>
                  <a:srgbClr val="0F8B8D"/>
                </a:solidFill>
              </a:rPr>
              <a:t>Lost trust</a:t>
            </a:r>
            <a:endParaRPr lang="en-US" sz="2000" dirty="0"/>
          </a:p>
        </p:txBody>
      </p:sp>
      <p:sp>
        <p:nvSpPr>
          <p:cNvPr id="15" name="Text 11"/>
          <p:cNvSpPr txBox="1"/>
          <p:nvPr/>
        </p:nvSpPr>
        <p:spPr>
          <a:xfrm>
            <a:off x="594360" y="2286000"/>
            <a:ext cx="2377440" cy="1005840"/>
          </a:xfrm>
          <a:prstGeom prst="rect">
            <a:avLst/>
          </a:prstGeom>
          <a:noFill/>
          <a:ln/>
        </p:spPr>
        <p:txBody>
          <a:bodyPr wrap="square" lIns="0" tIns="0" rIns="0" bIns="0" rtlCol="0" anchor="t"/>
          <a:lstStyle/>
          <a:p>
            <a:pPr indent="0" marL="0">
              <a:buNone/>
            </a:pPr>
            <a:r>
              <a:rPr lang="en-US" sz="1150" dirty="0">
                <a:solidFill>
                  <a:srgbClr val="22303C"/>
                </a:solidFill>
              </a:rPr>
              <a:t>Penalties, complaints and lost contracts. Reliability is the product.</a:t>
            </a:r>
            <a:endParaRPr lang="en-US" sz="1150" dirty="0"/>
          </a:p>
        </p:txBody>
      </p:sp>
      <p:sp>
        <p:nvSpPr>
          <p:cNvPr id="16" name="Shape 12"/>
          <p:cNvSpPr/>
          <p:nvPr/>
        </p:nvSpPr>
        <p:spPr>
          <a:xfrm>
            <a:off x="3246120" y="1097280"/>
            <a:ext cx="2651760" cy="2286000"/>
          </a:xfrm>
          <a:prstGeom prst="roundRect">
            <a:avLst>
              <a:gd name="adj" fmla="val 3200"/>
            </a:avLst>
          </a:prstGeom>
          <a:solidFill>
            <a:srgbClr val="FFFFFF"/>
          </a:solidFill>
          <a:ln w="12700">
            <a:solidFill>
              <a:srgbClr val="DDE3EA"/>
            </a:solidFill>
            <a:prstDash val="solid"/>
          </a:ln>
        </p:spPr>
      </p:sp>
      <p:sp>
        <p:nvSpPr>
          <p:cNvPr id="17" name="Shape 13"/>
          <p:cNvSpPr/>
          <p:nvPr/>
        </p:nvSpPr>
        <p:spPr>
          <a:xfrm>
            <a:off x="3383280" y="1188720"/>
            <a:ext cx="548640" cy="548640"/>
          </a:xfrm>
          <a:prstGeom prst="ellipse">
            <a:avLst/>
          </a:prstGeom>
          <a:solidFill>
            <a:srgbClr val="F2A541"/>
          </a:solidFill>
          <a:ln w="12700">
            <a:solidFill>
              <a:srgbClr val="F2A541"/>
            </a:solidFill>
            <a:prstDash val="solid"/>
          </a:ln>
        </p:spPr>
      </p:sp>
      <p:pic>
        <p:nvPicPr>
          <p:cNvPr id="18" name="Image 1" descr="preencoded.png">    </p:cNvPr>
          <p:cNvPicPr>
            <a:picLocks noChangeAspect="1"/>
          </p:cNvPicPr>
          <p:nvPr/>
        </p:nvPicPr>
        <p:blipFill>
          <a:blip r:embed="rId2"/>
          <a:stretch>
            <a:fillRect/>
          </a:stretch>
        </p:blipFill>
        <p:spPr>
          <a:xfrm>
            <a:off x="3520440" y="1325880"/>
            <a:ext cx="274320" cy="274320"/>
          </a:xfrm>
          <a:prstGeom prst="rect">
            <a:avLst/>
          </a:prstGeom>
        </p:spPr>
      </p:pic>
      <p:sp>
        <p:nvSpPr>
          <p:cNvPr id="19" name="Text 14"/>
          <p:cNvSpPr txBox="1"/>
          <p:nvPr/>
        </p:nvSpPr>
        <p:spPr>
          <a:xfrm>
            <a:off x="4023360" y="1188720"/>
            <a:ext cx="1783080" cy="548640"/>
          </a:xfrm>
          <a:prstGeom prst="rect">
            <a:avLst/>
          </a:prstGeom>
          <a:noFill/>
          <a:ln/>
        </p:spPr>
        <p:txBody>
          <a:bodyPr wrap="square" lIns="0" tIns="0" rIns="0" bIns="0" rtlCol="0" anchor="ctr"/>
          <a:lstStyle/>
          <a:p>
            <a:pPr indent="0" marL="0">
              <a:buNone/>
            </a:pPr>
            <a:r>
              <a:rPr lang="en-US" sz="1400" b="1" dirty="0">
                <a:solidFill>
                  <a:srgbClr val="14213D"/>
                </a:solidFill>
              </a:rPr>
              <a:t>High fuel costs</a:t>
            </a:r>
            <a:endParaRPr lang="en-US" sz="1400" dirty="0"/>
          </a:p>
        </p:txBody>
      </p:sp>
      <p:sp>
        <p:nvSpPr>
          <p:cNvPr id="20" name="Text 15"/>
          <p:cNvSpPr txBox="1"/>
          <p:nvPr/>
        </p:nvSpPr>
        <p:spPr>
          <a:xfrm>
            <a:off x="3383280" y="1828800"/>
            <a:ext cx="2377440" cy="411480"/>
          </a:xfrm>
          <a:prstGeom prst="rect">
            <a:avLst/>
          </a:prstGeom>
          <a:noFill/>
          <a:ln/>
        </p:spPr>
        <p:txBody>
          <a:bodyPr wrap="square" lIns="0" tIns="0" rIns="0" bIns="0" rtlCol="0" anchor="t"/>
          <a:lstStyle/>
          <a:p>
            <a:pPr indent="0" marL="0">
              <a:buNone/>
            </a:pPr>
            <a:r>
              <a:rPr lang="en-US" sz="2000" b="1" dirty="0">
                <a:solidFill>
                  <a:srgbClr val="F2A541"/>
                </a:solidFill>
              </a:rPr>
              <a:t>50–60%</a:t>
            </a:r>
            <a:endParaRPr lang="en-US" sz="2000" dirty="0"/>
          </a:p>
        </p:txBody>
      </p:sp>
      <p:sp>
        <p:nvSpPr>
          <p:cNvPr id="21" name="Text 16"/>
          <p:cNvSpPr txBox="1"/>
          <p:nvPr/>
        </p:nvSpPr>
        <p:spPr>
          <a:xfrm>
            <a:off x="3383280" y="2286000"/>
            <a:ext cx="2377440" cy="1005840"/>
          </a:xfrm>
          <a:prstGeom prst="rect">
            <a:avLst/>
          </a:prstGeom>
          <a:noFill/>
          <a:ln/>
        </p:spPr>
        <p:txBody>
          <a:bodyPr wrap="square" lIns="0" tIns="0" rIns="0" bIns="0" rtlCol="0" anchor="t"/>
          <a:lstStyle/>
          <a:p>
            <a:pPr indent="0" marL="0">
              <a:buNone/>
            </a:pPr>
            <a:r>
              <a:rPr lang="en-US" sz="1150" dirty="0">
                <a:solidFill>
                  <a:srgbClr val="22303C"/>
                </a:solidFill>
              </a:rPr>
              <a:t>of operating cost. ICRA expects up to a 200 bps margin hit in FY2027.</a:t>
            </a:r>
            <a:endParaRPr lang="en-US" sz="1150" dirty="0"/>
          </a:p>
        </p:txBody>
      </p:sp>
      <p:sp>
        <p:nvSpPr>
          <p:cNvPr id="22" name="Shape 17"/>
          <p:cNvSpPr/>
          <p:nvPr/>
        </p:nvSpPr>
        <p:spPr>
          <a:xfrm>
            <a:off x="6035040" y="1097280"/>
            <a:ext cx="2651760" cy="2286000"/>
          </a:xfrm>
          <a:prstGeom prst="roundRect">
            <a:avLst>
              <a:gd name="adj" fmla="val 3200"/>
            </a:avLst>
          </a:prstGeom>
          <a:solidFill>
            <a:srgbClr val="FFFFFF"/>
          </a:solidFill>
          <a:ln w="12700">
            <a:solidFill>
              <a:srgbClr val="DDE3EA"/>
            </a:solidFill>
            <a:prstDash val="solid"/>
          </a:ln>
        </p:spPr>
      </p:sp>
      <p:sp>
        <p:nvSpPr>
          <p:cNvPr id="23" name="Shape 18"/>
          <p:cNvSpPr/>
          <p:nvPr/>
        </p:nvSpPr>
        <p:spPr>
          <a:xfrm>
            <a:off x="6172200" y="1188720"/>
            <a:ext cx="548640" cy="548640"/>
          </a:xfrm>
          <a:prstGeom prst="ellipse">
            <a:avLst/>
          </a:prstGeom>
          <a:solidFill>
            <a:srgbClr val="14213D"/>
          </a:solidFill>
          <a:ln w="12700">
            <a:solidFill>
              <a:srgbClr val="14213D"/>
            </a:solidFill>
            <a:prstDash val="solid"/>
          </a:ln>
        </p:spPr>
      </p:sp>
      <p:pic>
        <p:nvPicPr>
          <p:cNvPr id="24" name="Image 2" descr="preencoded.png">    </p:cNvPr>
          <p:cNvPicPr>
            <a:picLocks noChangeAspect="1"/>
          </p:cNvPicPr>
          <p:nvPr/>
        </p:nvPicPr>
        <p:blipFill>
          <a:blip r:embed="rId3"/>
          <a:stretch>
            <a:fillRect/>
          </a:stretch>
        </p:blipFill>
        <p:spPr>
          <a:xfrm>
            <a:off x="6309360" y="1325880"/>
            <a:ext cx="274320" cy="274320"/>
          </a:xfrm>
          <a:prstGeom prst="rect">
            <a:avLst/>
          </a:prstGeom>
        </p:spPr>
      </p:pic>
      <p:sp>
        <p:nvSpPr>
          <p:cNvPr id="25" name="Text 19"/>
          <p:cNvSpPr txBox="1"/>
          <p:nvPr/>
        </p:nvSpPr>
        <p:spPr>
          <a:xfrm>
            <a:off x="6812280" y="1188720"/>
            <a:ext cx="1783080" cy="548640"/>
          </a:xfrm>
          <a:prstGeom prst="rect">
            <a:avLst/>
          </a:prstGeom>
          <a:noFill/>
          <a:ln/>
        </p:spPr>
        <p:txBody>
          <a:bodyPr wrap="square" lIns="0" tIns="0" rIns="0" bIns="0" rtlCol="0" anchor="ctr"/>
          <a:lstStyle/>
          <a:p>
            <a:pPr indent="0" marL="0">
              <a:buNone/>
            </a:pPr>
            <a:r>
              <a:rPr lang="en-US" sz="1400" b="1" dirty="0">
                <a:solidFill>
                  <a:srgbClr val="14213D"/>
                </a:solidFill>
              </a:rPr>
              <a:t>Unpredictable demand</a:t>
            </a:r>
            <a:endParaRPr lang="en-US" sz="1400" dirty="0"/>
          </a:p>
        </p:txBody>
      </p:sp>
      <p:sp>
        <p:nvSpPr>
          <p:cNvPr id="26" name="Text 20"/>
          <p:cNvSpPr txBox="1"/>
          <p:nvPr/>
        </p:nvSpPr>
        <p:spPr>
          <a:xfrm>
            <a:off x="6172200" y="1828800"/>
            <a:ext cx="2377440" cy="411480"/>
          </a:xfrm>
          <a:prstGeom prst="rect">
            <a:avLst/>
          </a:prstGeom>
          <a:noFill/>
          <a:ln/>
        </p:spPr>
        <p:txBody>
          <a:bodyPr wrap="square" lIns="0" tIns="0" rIns="0" bIns="0" rtlCol="0" anchor="t"/>
          <a:lstStyle/>
          <a:p>
            <a:pPr indent="0" marL="0">
              <a:buNone/>
            </a:pPr>
            <a:r>
              <a:rPr lang="en-US" sz="2000" b="1" dirty="0">
                <a:solidFill>
                  <a:srgbClr val="14213D"/>
                </a:solidFill>
              </a:rPr>
              <a:t>Boom and bust</a:t>
            </a:r>
            <a:endParaRPr lang="en-US" sz="2000" dirty="0"/>
          </a:p>
        </p:txBody>
      </p:sp>
      <p:sp>
        <p:nvSpPr>
          <p:cNvPr id="27" name="Text 21"/>
          <p:cNvSpPr txBox="1"/>
          <p:nvPr/>
        </p:nvSpPr>
        <p:spPr>
          <a:xfrm>
            <a:off x="6172200" y="2286000"/>
            <a:ext cx="2377440" cy="1005840"/>
          </a:xfrm>
          <a:prstGeom prst="rect">
            <a:avLst/>
          </a:prstGeom>
          <a:noFill/>
          <a:ln/>
        </p:spPr>
        <p:txBody>
          <a:bodyPr wrap="square" lIns="0" tIns="0" rIns="0" bIns="0" rtlCol="0" anchor="t"/>
          <a:lstStyle/>
          <a:p>
            <a:pPr indent="0" marL="0">
              <a:buNone/>
            </a:pPr>
            <a:r>
              <a:rPr lang="en-US" sz="1150" dirty="0">
                <a:solidFill>
                  <a:srgbClr val="22303C"/>
                </a:solidFill>
              </a:rPr>
              <a:t>Festival and e-commerce spikes leave capacity idle or overloaded.</a:t>
            </a:r>
            <a:endParaRPr lang="en-US" sz="1150" dirty="0"/>
          </a:p>
        </p:txBody>
      </p:sp>
      <p:sp>
        <p:nvSpPr>
          <p:cNvPr id="28" name="Shape 22"/>
          <p:cNvSpPr/>
          <p:nvPr/>
        </p:nvSpPr>
        <p:spPr>
          <a:xfrm>
            <a:off x="457200" y="3566160"/>
            <a:ext cx="1481328" cy="502920"/>
          </a:xfrm>
          <a:prstGeom prst="roundRect">
            <a:avLst>
              <a:gd name="adj" fmla="val 14545"/>
            </a:avLst>
          </a:prstGeom>
          <a:solidFill>
            <a:srgbClr val="0F8B8D"/>
          </a:solidFill>
          <a:ln w="12700">
            <a:solidFill>
              <a:srgbClr val="0F8B8D"/>
            </a:solidFill>
            <a:prstDash val="solid"/>
          </a:ln>
        </p:spPr>
      </p:sp>
      <p:sp>
        <p:nvSpPr>
          <p:cNvPr id="29" name="Text 23"/>
          <p:cNvSpPr txBox="1"/>
          <p:nvPr/>
        </p:nvSpPr>
        <p:spPr>
          <a:xfrm>
            <a:off x="457200" y="3566160"/>
            <a:ext cx="1481328" cy="502920"/>
          </a:xfrm>
          <a:prstGeom prst="rect">
            <a:avLst/>
          </a:prstGeom>
          <a:noFill/>
          <a:ln/>
        </p:spPr>
        <p:txBody>
          <a:bodyPr wrap="square" lIns="0" tIns="0" rIns="0" bIns="0" rtlCol="0" anchor="ctr"/>
          <a:lstStyle/>
          <a:p>
            <a:pPr algn="ctr" indent="0" marL="0">
              <a:buNone/>
            </a:pPr>
            <a:r>
              <a:rPr lang="en-US" sz="1050" b="1" dirty="0">
                <a:solidFill>
                  <a:srgbClr val="FFFFFF"/>
                </a:solidFill>
              </a:rPr>
              <a:t>Demand guessed wrong</a:t>
            </a:r>
            <a:endParaRPr lang="en-US" sz="1050" dirty="0"/>
          </a:p>
        </p:txBody>
      </p:sp>
      <p:sp>
        <p:nvSpPr>
          <p:cNvPr id="30" name="Text 24"/>
          <p:cNvSpPr txBox="1"/>
          <p:nvPr/>
        </p:nvSpPr>
        <p:spPr>
          <a:xfrm>
            <a:off x="1938528" y="3566160"/>
            <a:ext cx="201168" cy="502920"/>
          </a:xfrm>
          <a:prstGeom prst="rect">
            <a:avLst/>
          </a:prstGeom>
          <a:noFill/>
          <a:ln/>
        </p:spPr>
        <p:txBody>
          <a:bodyPr wrap="square" lIns="0" tIns="0" rIns="0" bIns="0" rtlCol="0" anchor="ctr"/>
          <a:lstStyle/>
          <a:p>
            <a:pPr algn="ctr" indent="0" marL="0">
              <a:buNone/>
            </a:pPr>
            <a:r>
              <a:rPr lang="en-US" sz="1000" dirty="0">
                <a:solidFill>
                  <a:srgbClr val="F2A541"/>
                </a:solidFill>
              </a:rPr>
              <a:t>▶</a:t>
            </a:r>
            <a:endParaRPr lang="en-US" sz="1000" dirty="0"/>
          </a:p>
        </p:txBody>
      </p:sp>
      <p:sp>
        <p:nvSpPr>
          <p:cNvPr id="31" name="Shape 25"/>
          <p:cNvSpPr/>
          <p:nvPr/>
        </p:nvSpPr>
        <p:spPr>
          <a:xfrm>
            <a:off x="2139696" y="3566160"/>
            <a:ext cx="1481328" cy="502920"/>
          </a:xfrm>
          <a:prstGeom prst="roundRect">
            <a:avLst>
              <a:gd name="adj" fmla="val 14545"/>
            </a:avLst>
          </a:prstGeom>
          <a:solidFill>
            <a:srgbClr val="0F8B8D"/>
          </a:solidFill>
          <a:ln w="12700">
            <a:solidFill>
              <a:srgbClr val="0F8B8D"/>
            </a:solidFill>
            <a:prstDash val="solid"/>
          </a:ln>
        </p:spPr>
      </p:sp>
      <p:sp>
        <p:nvSpPr>
          <p:cNvPr id="32" name="Text 26"/>
          <p:cNvSpPr txBox="1"/>
          <p:nvPr/>
        </p:nvSpPr>
        <p:spPr>
          <a:xfrm>
            <a:off x="2139696" y="3566160"/>
            <a:ext cx="1481328" cy="502920"/>
          </a:xfrm>
          <a:prstGeom prst="rect">
            <a:avLst/>
          </a:prstGeom>
          <a:noFill/>
          <a:ln/>
        </p:spPr>
        <p:txBody>
          <a:bodyPr wrap="square" lIns="0" tIns="0" rIns="0" bIns="0" rtlCol="0" anchor="ctr"/>
          <a:lstStyle/>
          <a:p>
            <a:pPr algn="ctr" indent="0" marL="0">
              <a:buNone/>
            </a:pPr>
            <a:r>
              <a:rPr lang="en-US" sz="1050" b="1" dirty="0">
                <a:solidFill>
                  <a:srgbClr val="FFFFFF"/>
                </a:solidFill>
              </a:rPr>
              <a:t>Unbalanced loads</a:t>
            </a:r>
            <a:endParaRPr lang="en-US" sz="1050" dirty="0"/>
          </a:p>
        </p:txBody>
      </p:sp>
      <p:sp>
        <p:nvSpPr>
          <p:cNvPr id="33" name="Text 27"/>
          <p:cNvSpPr txBox="1"/>
          <p:nvPr/>
        </p:nvSpPr>
        <p:spPr>
          <a:xfrm>
            <a:off x="3621024" y="3566160"/>
            <a:ext cx="201168" cy="502920"/>
          </a:xfrm>
          <a:prstGeom prst="rect">
            <a:avLst/>
          </a:prstGeom>
          <a:noFill/>
          <a:ln/>
        </p:spPr>
        <p:txBody>
          <a:bodyPr wrap="square" lIns="0" tIns="0" rIns="0" bIns="0" rtlCol="0" anchor="ctr"/>
          <a:lstStyle/>
          <a:p>
            <a:pPr algn="ctr" indent="0" marL="0">
              <a:buNone/>
            </a:pPr>
            <a:r>
              <a:rPr lang="en-US" sz="1000" dirty="0">
                <a:solidFill>
                  <a:srgbClr val="F2A541"/>
                </a:solidFill>
              </a:rPr>
              <a:t>▶</a:t>
            </a:r>
            <a:endParaRPr lang="en-US" sz="1000" dirty="0"/>
          </a:p>
        </p:txBody>
      </p:sp>
      <p:sp>
        <p:nvSpPr>
          <p:cNvPr id="34" name="Shape 28"/>
          <p:cNvSpPr/>
          <p:nvPr/>
        </p:nvSpPr>
        <p:spPr>
          <a:xfrm>
            <a:off x="3822192" y="3566160"/>
            <a:ext cx="1481328" cy="502920"/>
          </a:xfrm>
          <a:prstGeom prst="roundRect">
            <a:avLst>
              <a:gd name="adj" fmla="val 14545"/>
            </a:avLst>
          </a:prstGeom>
          <a:solidFill>
            <a:srgbClr val="0F8B8D"/>
          </a:solidFill>
          <a:ln w="12700">
            <a:solidFill>
              <a:srgbClr val="0F8B8D"/>
            </a:solidFill>
            <a:prstDash val="solid"/>
          </a:ln>
        </p:spPr>
      </p:sp>
      <p:sp>
        <p:nvSpPr>
          <p:cNvPr id="35" name="Text 29"/>
          <p:cNvSpPr txBox="1"/>
          <p:nvPr/>
        </p:nvSpPr>
        <p:spPr>
          <a:xfrm>
            <a:off x="3822192" y="3566160"/>
            <a:ext cx="1481328" cy="502920"/>
          </a:xfrm>
          <a:prstGeom prst="rect">
            <a:avLst/>
          </a:prstGeom>
          <a:noFill/>
          <a:ln/>
        </p:spPr>
        <p:txBody>
          <a:bodyPr wrap="square" lIns="0" tIns="0" rIns="0" bIns="0" rtlCol="0" anchor="ctr"/>
          <a:lstStyle/>
          <a:p>
            <a:pPr algn="ctr" indent="0" marL="0">
              <a:buNone/>
            </a:pPr>
            <a:r>
              <a:rPr lang="en-US" sz="1050" b="1" dirty="0">
                <a:solidFill>
                  <a:srgbClr val="FFFFFF"/>
                </a:solidFill>
              </a:rPr>
              <a:t>Delays and extra trips</a:t>
            </a:r>
            <a:endParaRPr lang="en-US" sz="1050" dirty="0"/>
          </a:p>
        </p:txBody>
      </p:sp>
      <p:sp>
        <p:nvSpPr>
          <p:cNvPr id="36" name="Text 30"/>
          <p:cNvSpPr txBox="1"/>
          <p:nvPr/>
        </p:nvSpPr>
        <p:spPr>
          <a:xfrm>
            <a:off x="5303520" y="3566160"/>
            <a:ext cx="201168" cy="502920"/>
          </a:xfrm>
          <a:prstGeom prst="rect">
            <a:avLst/>
          </a:prstGeom>
          <a:noFill/>
          <a:ln/>
        </p:spPr>
        <p:txBody>
          <a:bodyPr wrap="square" lIns="0" tIns="0" rIns="0" bIns="0" rtlCol="0" anchor="ctr"/>
          <a:lstStyle/>
          <a:p>
            <a:pPr algn="ctr" indent="0" marL="0">
              <a:buNone/>
            </a:pPr>
            <a:r>
              <a:rPr lang="en-US" sz="1000" dirty="0">
                <a:solidFill>
                  <a:srgbClr val="F2A541"/>
                </a:solidFill>
              </a:rPr>
              <a:t>▶</a:t>
            </a:r>
            <a:endParaRPr lang="en-US" sz="1000" dirty="0"/>
          </a:p>
        </p:txBody>
      </p:sp>
      <p:sp>
        <p:nvSpPr>
          <p:cNvPr id="37" name="Shape 31"/>
          <p:cNvSpPr/>
          <p:nvPr/>
        </p:nvSpPr>
        <p:spPr>
          <a:xfrm>
            <a:off x="5504688" y="3566160"/>
            <a:ext cx="1481328" cy="502920"/>
          </a:xfrm>
          <a:prstGeom prst="roundRect">
            <a:avLst>
              <a:gd name="adj" fmla="val 14545"/>
            </a:avLst>
          </a:prstGeom>
          <a:solidFill>
            <a:srgbClr val="0F8B8D"/>
          </a:solidFill>
          <a:ln w="12700">
            <a:solidFill>
              <a:srgbClr val="0F8B8D"/>
            </a:solidFill>
            <a:prstDash val="solid"/>
          </a:ln>
        </p:spPr>
      </p:sp>
      <p:sp>
        <p:nvSpPr>
          <p:cNvPr id="38" name="Text 32"/>
          <p:cNvSpPr txBox="1"/>
          <p:nvPr/>
        </p:nvSpPr>
        <p:spPr>
          <a:xfrm>
            <a:off x="5504688" y="3566160"/>
            <a:ext cx="1481328" cy="502920"/>
          </a:xfrm>
          <a:prstGeom prst="rect">
            <a:avLst/>
          </a:prstGeom>
          <a:noFill/>
          <a:ln/>
        </p:spPr>
        <p:txBody>
          <a:bodyPr wrap="square" lIns="0" tIns="0" rIns="0" bIns="0" rtlCol="0" anchor="ctr"/>
          <a:lstStyle/>
          <a:p>
            <a:pPr algn="ctr" indent="0" marL="0">
              <a:buNone/>
            </a:pPr>
            <a:r>
              <a:rPr lang="en-US" sz="1050" b="1" dirty="0">
                <a:solidFill>
                  <a:srgbClr val="FFFFFF"/>
                </a:solidFill>
              </a:rPr>
              <a:t>More fuel burned</a:t>
            </a:r>
            <a:endParaRPr lang="en-US" sz="1050" dirty="0"/>
          </a:p>
        </p:txBody>
      </p:sp>
      <p:sp>
        <p:nvSpPr>
          <p:cNvPr id="39" name="Text 33"/>
          <p:cNvSpPr txBox="1"/>
          <p:nvPr/>
        </p:nvSpPr>
        <p:spPr>
          <a:xfrm>
            <a:off x="6986016" y="3566160"/>
            <a:ext cx="201168" cy="502920"/>
          </a:xfrm>
          <a:prstGeom prst="rect">
            <a:avLst/>
          </a:prstGeom>
          <a:noFill/>
          <a:ln/>
        </p:spPr>
        <p:txBody>
          <a:bodyPr wrap="square" lIns="0" tIns="0" rIns="0" bIns="0" rtlCol="0" anchor="ctr"/>
          <a:lstStyle/>
          <a:p>
            <a:pPr algn="ctr" indent="0" marL="0">
              <a:buNone/>
            </a:pPr>
            <a:r>
              <a:rPr lang="en-US" sz="1000" dirty="0">
                <a:solidFill>
                  <a:srgbClr val="F2A541"/>
                </a:solidFill>
              </a:rPr>
              <a:t>▶</a:t>
            </a:r>
            <a:endParaRPr lang="en-US" sz="1000" dirty="0"/>
          </a:p>
        </p:txBody>
      </p:sp>
      <p:sp>
        <p:nvSpPr>
          <p:cNvPr id="40" name="Shape 34"/>
          <p:cNvSpPr/>
          <p:nvPr/>
        </p:nvSpPr>
        <p:spPr>
          <a:xfrm>
            <a:off x="7187184" y="3566160"/>
            <a:ext cx="1481328" cy="502920"/>
          </a:xfrm>
          <a:prstGeom prst="roundRect">
            <a:avLst>
              <a:gd name="adj" fmla="val 14545"/>
            </a:avLst>
          </a:prstGeom>
          <a:solidFill>
            <a:srgbClr val="14213D"/>
          </a:solidFill>
          <a:ln w="12700">
            <a:solidFill>
              <a:srgbClr val="14213D"/>
            </a:solidFill>
            <a:prstDash val="solid"/>
          </a:ln>
        </p:spPr>
      </p:sp>
      <p:sp>
        <p:nvSpPr>
          <p:cNvPr id="41" name="Text 35"/>
          <p:cNvSpPr txBox="1"/>
          <p:nvPr/>
        </p:nvSpPr>
        <p:spPr>
          <a:xfrm>
            <a:off x="7187184" y="3566160"/>
            <a:ext cx="1481328" cy="502920"/>
          </a:xfrm>
          <a:prstGeom prst="rect">
            <a:avLst/>
          </a:prstGeom>
          <a:noFill/>
          <a:ln/>
        </p:spPr>
        <p:txBody>
          <a:bodyPr wrap="square" lIns="0" tIns="0" rIns="0" bIns="0" rtlCol="0" anchor="ctr"/>
          <a:lstStyle/>
          <a:p>
            <a:pPr algn="ctr" indent="0" marL="0">
              <a:buNone/>
            </a:pPr>
            <a:r>
              <a:rPr lang="en-US" sz="1050" b="1" dirty="0">
                <a:solidFill>
                  <a:srgbClr val="FFFFFF"/>
                </a:solidFill>
              </a:rPr>
              <a:t>Thinner margins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Diagnosis: why these problems happen</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The common root is guesswork: decisions made on limited, late, scattered data.</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Redseer; IRADe and IISD; FreightFox; HubSpot; Gurobi Optimization (Delhivery case)</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4</a:t>
            </a:r>
            <a:endParaRPr lang="en-US" sz="900" dirty="0"/>
          </a:p>
        </p:txBody>
      </p:sp>
      <p:sp>
        <p:nvSpPr>
          <p:cNvPr id="10" name="Shape 7"/>
          <p:cNvSpPr/>
          <p:nvPr/>
        </p:nvSpPr>
        <p:spPr>
          <a:xfrm>
            <a:off x="457200" y="1097280"/>
            <a:ext cx="1371600" cy="868680"/>
          </a:xfrm>
          <a:prstGeom prst="roundRect">
            <a:avLst>
              <a:gd name="adj" fmla="val 8421"/>
            </a:avLst>
          </a:prstGeom>
          <a:solidFill>
            <a:srgbClr val="0F8B8D"/>
          </a:solidFill>
          <a:ln w="12700">
            <a:solidFill>
              <a:srgbClr val="0F8B8D"/>
            </a:solidFill>
            <a:prstDash val="solid"/>
          </a:ln>
        </p:spPr>
      </p:sp>
      <p:sp>
        <p:nvSpPr>
          <p:cNvPr id="11" name="Text 8"/>
          <p:cNvSpPr txBox="1"/>
          <p:nvPr/>
        </p:nvSpPr>
        <p:spPr>
          <a:xfrm>
            <a:off x="457200" y="1097280"/>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rPr>
              <a:t>Delays</a:t>
            </a:r>
            <a:endParaRPr lang="en-US" sz="1500" dirty="0"/>
          </a:p>
        </p:txBody>
      </p:sp>
      <p:sp>
        <p:nvSpPr>
          <p:cNvPr id="12" name="Shape 9"/>
          <p:cNvSpPr/>
          <p:nvPr/>
        </p:nvSpPr>
        <p:spPr>
          <a:xfrm>
            <a:off x="1965960" y="1097280"/>
            <a:ext cx="3520440" cy="868680"/>
          </a:xfrm>
          <a:prstGeom prst="roundRect">
            <a:avLst>
              <a:gd name="adj" fmla="val 8421"/>
            </a:avLst>
          </a:prstGeom>
          <a:solidFill>
            <a:srgbClr val="FFFFFF"/>
          </a:solidFill>
          <a:ln w="12700">
            <a:solidFill>
              <a:srgbClr val="DDE3EA"/>
            </a:solidFill>
            <a:prstDash val="solid"/>
          </a:ln>
        </p:spPr>
      </p:sp>
      <p:sp>
        <p:nvSpPr>
          <p:cNvPr id="13" name="Text 10"/>
          <p:cNvSpPr txBox="1"/>
          <p:nvPr/>
        </p:nvSpPr>
        <p:spPr>
          <a:xfrm>
            <a:off x="2084832" y="1097280"/>
            <a:ext cx="3291840" cy="868680"/>
          </a:xfrm>
          <a:prstGeom prst="rect">
            <a:avLst/>
          </a:prstGeom>
          <a:noFill/>
          <a:ln/>
        </p:spPr>
        <p:txBody>
          <a:bodyPr wrap="square" lIns="0" tIns="0" rIns="0" bIns="0" rtlCol="0" anchor="ctr"/>
          <a:lstStyle/>
          <a:p>
            <a:pPr indent="0" marL="0">
              <a:buNone/>
            </a:pPr>
            <a:r>
              <a:rPr lang="en-US" sz="1150" dirty="0">
                <a:solidFill>
                  <a:srgbClr val="22303C"/>
                </a:solidFill>
              </a:rPr>
              <a:t>Static manual route plans; poor fleet visibility; slow manual sorting in warehouses</a:t>
            </a:r>
            <a:endParaRPr lang="en-US" sz="1150" dirty="0"/>
          </a:p>
        </p:txBody>
      </p:sp>
      <p:sp>
        <p:nvSpPr>
          <p:cNvPr id="14" name="Shape 11"/>
          <p:cNvSpPr/>
          <p:nvPr/>
        </p:nvSpPr>
        <p:spPr>
          <a:xfrm>
            <a:off x="457200" y="2121408"/>
            <a:ext cx="1371600" cy="868680"/>
          </a:xfrm>
          <a:prstGeom prst="roundRect">
            <a:avLst>
              <a:gd name="adj" fmla="val 8421"/>
            </a:avLst>
          </a:prstGeom>
          <a:solidFill>
            <a:srgbClr val="F2A541"/>
          </a:solidFill>
          <a:ln w="12700">
            <a:solidFill>
              <a:srgbClr val="F2A541"/>
            </a:solidFill>
            <a:prstDash val="solid"/>
          </a:ln>
        </p:spPr>
      </p:sp>
      <p:sp>
        <p:nvSpPr>
          <p:cNvPr id="15" name="Text 12"/>
          <p:cNvSpPr txBox="1"/>
          <p:nvPr/>
        </p:nvSpPr>
        <p:spPr>
          <a:xfrm>
            <a:off x="457200" y="2121408"/>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rPr>
              <a:t>Fuel cost</a:t>
            </a:r>
            <a:endParaRPr lang="en-US" sz="1500" dirty="0"/>
          </a:p>
        </p:txBody>
      </p:sp>
      <p:sp>
        <p:nvSpPr>
          <p:cNvPr id="16" name="Shape 13"/>
          <p:cNvSpPr/>
          <p:nvPr/>
        </p:nvSpPr>
        <p:spPr>
          <a:xfrm>
            <a:off x="1965960" y="2121408"/>
            <a:ext cx="3520440" cy="868680"/>
          </a:xfrm>
          <a:prstGeom prst="roundRect">
            <a:avLst>
              <a:gd name="adj" fmla="val 8421"/>
            </a:avLst>
          </a:prstGeom>
          <a:solidFill>
            <a:srgbClr val="FFFFFF"/>
          </a:solidFill>
          <a:ln w="12700">
            <a:solidFill>
              <a:srgbClr val="DDE3EA"/>
            </a:solidFill>
            <a:prstDash val="solid"/>
          </a:ln>
        </p:spPr>
      </p:sp>
      <p:sp>
        <p:nvSpPr>
          <p:cNvPr id="17" name="Text 14"/>
          <p:cNvSpPr txBox="1"/>
          <p:nvPr/>
        </p:nvSpPr>
        <p:spPr>
          <a:xfrm>
            <a:off x="2084832" y="2121408"/>
            <a:ext cx="3291840" cy="868680"/>
          </a:xfrm>
          <a:prstGeom prst="rect">
            <a:avLst/>
          </a:prstGeom>
          <a:noFill/>
          <a:ln/>
        </p:spPr>
        <p:txBody>
          <a:bodyPr wrap="square" lIns="0" tIns="0" rIns="0" bIns="0" rtlCol="0" anchor="ctr"/>
          <a:lstStyle/>
          <a:p>
            <a:pPr indent="0" marL="0">
              <a:buNone/>
            </a:pPr>
            <a:r>
              <a:rPr lang="en-US" sz="1150" dirty="0">
                <a:solidFill>
                  <a:srgbClr val="22303C"/>
                </a:solidFill>
              </a:rPr>
              <a:t>Sub-optimal routes; low utilisation and empty returns; costs not passed on in an oversupplied market</a:t>
            </a:r>
            <a:endParaRPr lang="en-US" sz="1150" dirty="0"/>
          </a:p>
        </p:txBody>
      </p:sp>
      <p:sp>
        <p:nvSpPr>
          <p:cNvPr id="18" name="Shape 15"/>
          <p:cNvSpPr/>
          <p:nvPr/>
        </p:nvSpPr>
        <p:spPr>
          <a:xfrm>
            <a:off x="457200" y="3145536"/>
            <a:ext cx="1371600" cy="868680"/>
          </a:xfrm>
          <a:prstGeom prst="roundRect">
            <a:avLst>
              <a:gd name="adj" fmla="val 8421"/>
            </a:avLst>
          </a:prstGeom>
          <a:solidFill>
            <a:srgbClr val="14213D"/>
          </a:solidFill>
          <a:ln w="12700">
            <a:solidFill>
              <a:srgbClr val="14213D"/>
            </a:solidFill>
            <a:prstDash val="solid"/>
          </a:ln>
        </p:spPr>
      </p:sp>
      <p:sp>
        <p:nvSpPr>
          <p:cNvPr id="19" name="Text 16"/>
          <p:cNvSpPr txBox="1"/>
          <p:nvPr/>
        </p:nvSpPr>
        <p:spPr>
          <a:xfrm>
            <a:off x="457200" y="3145536"/>
            <a:ext cx="1371600" cy="868680"/>
          </a:xfrm>
          <a:prstGeom prst="rect">
            <a:avLst/>
          </a:prstGeom>
          <a:noFill/>
          <a:ln/>
        </p:spPr>
        <p:txBody>
          <a:bodyPr wrap="square" lIns="0" tIns="0" rIns="0" bIns="0" rtlCol="0" anchor="ctr"/>
          <a:lstStyle/>
          <a:p>
            <a:pPr algn="ctr" indent="0" marL="0">
              <a:buNone/>
            </a:pPr>
            <a:r>
              <a:rPr lang="en-US" sz="1500" b="1" dirty="0">
                <a:solidFill>
                  <a:srgbClr val="FFFFFF"/>
                </a:solidFill>
              </a:rPr>
              <a:t>Demand</a:t>
            </a:r>
            <a:endParaRPr lang="en-US" sz="1500" dirty="0"/>
          </a:p>
        </p:txBody>
      </p:sp>
      <p:sp>
        <p:nvSpPr>
          <p:cNvPr id="20" name="Shape 17"/>
          <p:cNvSpPr/>
          <p:nvPr/>
        </p:nvSpPr>
        <p:spPr>
          <a:xfrm>
            <a:off x="1965960" y="3145536"/>
            <a:ext cx="3520440" cy="868680"/>
          </a:xfrm>
          <a:prstGeom prst="roundRect">
            <a:avLst>
              <a:gd name="adj" fmla="val 8421"/>
            </a:avLst>
          </a:prstGeom>
          <a:solidFill>
            <a:srgbClr val="FFFFFF"/>
          </a:solidFill>
          <a:ln w="12700">
            <a:solidFill>
              <a:srgbClr val="DDE3EA"/>
            </a:solidFill>
            <a:prstDash val="solid"/>
          </a:ln>
        </p:spPr>
      </p:sp>
      <p:sp>
        <p:nvSpPr>
          <p:cNvPr id="21" name="Text 18"/>
          <p:cNvSpPr txBox="1"/>
          <p:nvPr/>
        </p:nvSpPr>
        <p:spPr>
          <a:xfrm>
            <a:off x="2084832" y="3145536"/>
            <a:ext cx="3291840" cy="868680"/>
          </a:xfrm>
          <a:prstGeom prst="rect">
            <a:avLst/>
          </a:prstGeom>
          <a:noFill/>
          <a:ln/>
        </p:spPr>
        <p:txBody>
          <a:bodyPr wrap="square" lIns="0" tIns="0" rIns="0" bIns="0" rtlCol="0" anchor="ctr"/>
          <a:lstStyle/>
          <a:p>
            <a:pPr indent="0" marL="0">
              <a:buNone/>
            </a:pPr>
            <a:r>
              <a:rPr lang="en-US" sz="1150" dirty="0">
                <a:solidFill>
                  <a:srgbClr val="22303C"/>
                </a:solidFill>
              </a:rPr>
              <a:t>Forecasts from past averages; data siloed across sales, operations and warehouses</a:t>
            </a:r>
            <a:endParaRPr lang="en-US" sz="1150" dirty="0"/>
          </a:p>
        </p:txBody>
      </p:sp>
      <p:sp>
        <p:nvSpPr>
          <p:cNvPr id="22" name="Shape 19"/>
          <p:cNvSpPr/>
          <p:nvPr/>
        </p:nvSpPr>
        <p:spPr>
          <a:xfrm>
            <a:off x="5669280" y="1097280"/>
            <a:ext cx="3017520" cy="1417320"/>
          </a:xfrm>
          <a:prstGeom prst="roundRect">
            <a:avLst>
              <a:gd name="adj" fmla="val 5161"/>
            </a:avLst>
          </a:prstGeom>
          <a:solidFill>
            <a:srgbClr val="FFFFFF"/>
          </a:solidFill>
          <a:ln w="12700">
            <a:solidFill>
              <a:srgbClr val="0F8B8D"/>
            </a:solidFill>
            <a:prstDash val="solid"/>
          </a:ln>
        </p:spPr>
      </p:sp>
      <p:sp>
        <p:nvSpPr>
          <p:cNvPr id="23" name="Text 20"/>
          <p:cNvSpPr txBox="1"/>
          <p:nvPr/>
        </p:nvSpPr>
        <p:spPr>
          <a:xfrm>
            <a:off x="5806440" y="1188720"/>
            <a:ext cx="2743200" cy="1234440"/>
          </a:xfrm>
          <a:prstGeom prst="rect">
            <a:avLst/>
          </a:prstGeom>
          <a:noFill/>
          <a:ln/>
        </p:spPr>
        <p:txBody>
          <a:bodyPr wrap="square" lIns="0" tIns="0" rIns="0" bIns="0" rtlCol="0" anchor="t"/>
          <a:lstStyle/>
          <a:p>
            <a:pPr indent="0" marL="0">
              <a:spcAft>
                <a:spcPts val="600"/>
              </a:spcAft>
              <a:buNone/>
            </a:pPr>
            <a:r>
              <a:rPr lang="en-US" sz="1300" b="1" dirty="0">
                <a:solidFill>
                  <a:srgbClr val="0F8B8D"/>
                </a:solidFill>
              </a:rPr>
              <a:t>AI can help (inside control)</a:t>
            </a:r>
            <a:endParaRPr lang="en-US" sz="1300" dirty="0"/>
          </a:p>
          <a:p>
            <a:pPr indent="0" marL="0">
              <a:spcAft>
                <a:spcPts val="600"/>
              </a:spcAft>
              <a:buNone/>
            </a:pPr>
            <a:r>
              <a:rPr lang="en-US" sz="1300" dirty="0">
                <a:solidFill>
                  <a:srgbClr val="0F8B8D"/>
                </a:solidFill>
              </a:rPr>
              <a:t>Route plans, vehicle visibility, forecasts, sorting and shipment allocation</a:t>
            </a:r>
            <a:endParaRPr lang="en-US" sz="1300" dirty="0"/>
          </a:p>
        </p:txBody>
      </p:sp>
      <p:sp>
        <p:nvSpPr>
          <p:cNvPr id="24" name="Shape 21"/>
          <p:cNvSpPr/>
          <p:nvPr/>
        </p:nvSpPr>
        <p:spPr>
          <a:xfrm>
            <a:off x="5669280" y="2697480"/>
            <a:ext cx="3017520" cy="1325880"/>
          </a:xfrm>
          <a:prstGeom prst="roundRect">
            <a:avLst>
              <a:gd name="adj" fmla="val 5517"/>
            </a:avLst>
          </a:prstGeom>
          <a:solidFill>
            <a:srgbClr val="FFFFFF"/>
          </a:solidFill>
          <a:ln w="12700">
            <a:solidFill>
              <a:srgbClr val="F2A541"/>
            </a:solidFill>
            <a:prstDash val="solid"/>
          </a:ln>
        </p:spPr>
      </p:sp>
      <p:sp>
        <p:nvSpPr>
          <p:cNvPr id="25" name="Text 22"/>
          <p:cNvSpPr txBox="1"/>
          <p:nvPr/>
        </p:nvSpPr>
        <p:spPr>
          <a:xfrm>
            <a:off x="5806440" y="2816352"/>
            <a:ext cx="2743200" cy="1143000"/>
          </a:xfrm>
          <a:prstGeom prst="rect">
            <a:avLst/>
          </a:prstGeom>
          <a:noFill/>
          <a:ln/>
        </p:spPr>
        <p:txBody>
          <a:bodyPr wrap="square" lIns="0" tIns="0" rIns="0" bIns="0" rtlCol="0" anchor="t"/>
          <a:lstStyle/>
          <a:p>
            <a:pPr indent="0" marL="0">
              <a:spcAft>
                <a:spcPts val="600"/>
              </a:spcAft>
              <a:buNone/>
            </a:pPr>
            <a:r>
              <a:rPr lang="en-US" sz="1300" b="1" dirty="0">
                <a:solidFill>
                  <a:srgbClr val="B36B00"/>
                </a:solidFill>
              </a:rPr>
              <a:t>AI cannot fix (outside control)</a:t>
            </a:r>
            <a:endParaRPr lang="en-US" sz="1300" dirty="0"/>
          </a:p>
          <a:p>
            <a:pPr indent="0" marL="0">
              <a:spcAft>
                <a:spcPts val="600"/>
              </a:spcAft>
              <a:buNone/>
            </a:pPr>
            <a:r>
              <a:rPr lang="en-US" sz="1300" dirty="0">
                <a:solidFill>
                  <a:srgbClr val="B36B00"/>
                </a:solidFill>
              </a:rPr>
              <a:t>Diesel prices, road congestion, market oversupply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How leading companies solved it</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Leaders collect data first, let software plan, and give robots the repetitive work.</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Delhivery Ltd 2025; Gurobi case study; CNBC 2023; Enki AI 2025 and Supply Chain Digital 2025 (Maersk figures conflict across sources)</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5</a:t>
            </a:r>
            <a:endParaRPr lang="en-US" sz="900" dirty="0"/>
          </a:p>
        </p:txBody>
      </p:sp>
      <p:sp>
        <p:nvSpPr>
          <p:cNvPr id="10" name="Shape 7"/>
          <p:cNvSpPr/>
          <p:nvPr/>
        </p:nvSpPr>
        <p:spPr>
          <a:xfrm>
            <a:off x="457200" y="1097280"/>
            <a:ext cx="5394960" cy="914400"/>
          </a:xfrm>
          <a:prstGeom prst="roundRect">
            <a:avLst>
              <a:gd name="adj" fmla="val 8000"/>
            </a:avLst>
          </a:prstGeom>
          <a:solidFill>
            <a:srgbClr val="FFFFFF"/>
          </a:solidFill>
          <a:ln w="12700">
            <a:solidFill>
              <a:srgbClr val="DDE3EA"/>
            </a:solidFill>
            <a:prstDash val="solid"/>
          </a:ln>
        </p:spPr>
      </p:sp>
      <p:sp>
        <p:nvSpPr>
          <p:cNvPr id="11" name="Shape 8"/>
          <p:cNvSpPr/>
          <p:nvPr/>
        </p:nvSpPr>
        <p:spPr>
          <a:xfrm>
            <a:off x="566928" y="1280160"/>
            <a:ext cx="548640" cy="548640"/>
          </a:xfrm>
          <a:prstGeom prst="ellipse">
            <a:avLst/>
          </a:prstGeom>
          <a:solidFill>
            <a:srgbClr val="0F8B8D"/>
          </a:solidFill>
          <a:ln w="12700">
            <a:solidFill>
              <a:srgbClr val="0F8B8D"/>
            </a:solidFill>
            <a:prstDash val="solid"/>
          </a:ln>
        </p:spPr>
      </p:sp>
      <p:pic>
        <p:nvPicPr>
          <p:cNvPr id="12" name="Image 0" descr="preencoded.png">    </p:cNvPr>
          <p:cNvPicPr>
            <a:picLocks noChangeAspect="1"/>
          </p:cNvPicPr>
          <p:nvPr/>
        </p:nvPicPr>
        <p:blipFill>
          <a:blip r:embed="rId1"/>
          <a:stretch>
            <a:fillRect/>
          </a:stretch>
        </p:blipFill>
        <p:spPr>
          <a:xfrm>
            <a:off x="704088" y="1417320"/>
            <a:ext cx="274320" cy="274320"/>
          </a:xfrm>
          <a:prstGeom prst="rect">
            <a:avLst/>
          </a:prstGeom>
        </p:spPr>
      </p:pic>
      <p:sp>
        <p:nvSpPr>
          <p:cNvPr id="13" name="Text 9"/>
          <p:cNvSpPr txBox="1"/>
          <p:nvPr/>
        </p:nvSpPr>
        <p:spPr>
          <a:xfrm>
            <a:off x="1280160" y="1152144"/>
            <a:ext cx="4480560" cy="822960"/>
          </a:xfrm>
          <a:prstGeom prst="rect">
            <a:avLst/>
          </a:prstGeom>
          <a:noFill/>
          <a:ln/>
        </p:spPr>
        <p:txBody>
          <a:bodyPr wrap="square" lIns="0" tIns="0" rIns="0" bIns="0" rtlCol="0" anchor="ctr"/>
          <a:lstStyle/>
          <a:p>
            <a:pPr indent="0" marL="0">
              <a:buNone/>
            </a:pPr>
            <a:r>
              <a:rPr lang="en-US" sz="1050" b="1" dirty="0">
                <a:solidFill>
                  <a:srgbClr val="22303C"/>
                </a:solidFill>
              </a:rPr>
              <a:t>Delhivery (India)</a:t>
            </a:r>
            <a:endParaRPr lang="en-US" sz="1050" dirty="0"/>
          </a:p>
          <a:p>
            <a:pPr indent="0" marL="0">
              <a:buNone/>
            </a:pPr>
            <a:r>
              <a:rPr lang="en-US" sz="1050" dirty="0">
                <a:solidFill>
                  <a:srgbClr val="22303C"/>
                </a:solidFill>
              </a:rPr>
              <a:t>Problem: manual sorting, last-mile allocation</a:t>
            </a:r>
            <a:endParaRPr lang="en-US" sz="1050" dirty="0"/>
          </a:p>
          <a:p>
            <a:pPr indent="0" marL="0">
              <a:buNone/>
            </a:pPr>
            <a:r>
              <a:rPr lang="en-US" sz="1050" dirty="0">
                <a:solidFill>
                  <a:srgbClr val="22303C"/>
                </a:solidFill>
              </a:rPr>
              <a:t>Solution: automated sort centres; optimisation solver</a:t>
            </a:r>
            <a:endParaRPr lang="en-US" sz="1050" dirty="0"/>
          </a:p>
          <a:p>
            <a:pPr indent="0" marL="0">
              <a:buNone/>
            </a:pPr>
            <a:r>
              <a:rPr lang="en-US" sz="1050" b="1" dirty="0">
                <a:solidFill>
                  <a:srgbClr val="22303C"/>
                </a:solidFill>
              </a:rPr>
              <a:t>Result: 45 centres, 8.2M shipments/day</a:t>
            </a:r>
            <a:endParaRPr lang="en-US" sz="1050" dirty="0"/>
          </a:p>
        </p:txBody>
      </p:sp>
      <p:sp>
        <p:nvSpPr>
          <p:cNvPr id="14" name="Shape 10"/>
          <p:cNvSpPr/>
          <p:nvPr/>
        </p:nvSpPr>
        <p:spPr>
          <a:xfrm>
            <a:off x="457200" y="2130552"/>
            <a:ext cx="5394960" cy="914400"/>
          </a:xfrm>
          <a:prstGeom prst="roundRect">
            <a:avLst>
              <a:gd name="adj" fmla="val 8000"/>
            </a:avLst>
          </a:prstGeom>
          <a:solidFill>
            <a:srgbClr val="FFFFFF"/>
          </a:solidFill>
          <a:ln w="12700">
            <a:solidFill>
              <a:srgbClr val="DDE3EA"/>
            </a:solidFill>
            <a:prstDash val="solid"/>
          </a:ln>
        </p:spPr>
      </p:sp>
      <p:sp>
        <p:nvSpPr>
          <p:cNvPr id="15" name="Shape 11"/>
          <p:cNvSpPr/>
          <p:nvPr/>
        </p:nvSpPr>
        <p:spPr>
          <a:xfrm>
            <a:off x="566928" y="2313432"/>
            <a:ext cx="548640" cy="548640"/>
          </a:xfrm>
          <a:prstGeom prst="ellipse">
            <a:avLst/>
          </a:prstGeom>
          <a:solidFill>
            <a:srgbClr val="F2A541"/>
          </a:solidFill>
          <a:ln w="12700">
            <a:solidFill>
              <a:srgbClr val="F2A541"/>
            </a:solidFill>
            <a:prstDash val="solid"/>
          </a:ln>
        </p:spPr>
      </p:sp>
      <p:pic>
        <p:nvPicPr>
          <p:cNvPr id="16" name="Image 1" descr="preencoded.png">    </p:cNvPr>
          <p:cNvPicPr>
            <a:picLocks noChangeAspect="1"/>
          </p:cNvPicPr>
          <p:nvPr/>
        </p:nvPicPr>
        <p:blipFill>
          <a:blip r:embed="rId2"/>
          <a:stretch>
            <a:fillRect/>
          </a:stretch>
        </p:blipFill>
        <p:spPr>
          <a:xfrm>
            <a:off x="704088" y="2450592"/>
            <a:ext cx="274320" cy="274320"/>
          </a:xfrm>
          <a:prstGeom prst="rect">
            <a:avLst/>
          </a:prstGeom>
        </p:spPr>
      </p:pic>
      <p:sp>
        <p:nvSpPr>
          <p:cNvPr id="17" name="Text 12"/>
          <p:cNvSpPr txBox="1"/>
          <p:nvPr/>
        </p:nvSpPr>
        <p:spPr>
          <a:xfrm>
            <a:off x="1280160" y="2185416"/>
            <a:ext cx="4480560" cy="822960"/>
          </a:xfrm>
          <a:prstGeom prst="rect">
            <a:avLst/>
          </a:prstGeom>
          <a:noFill/>
          <a:ln/>
        </p:spPr>
        <p:txBody>
          <a:bodyPr wrap="square" lIns="0" tIns="0" rIns="0" bIns="0" rtlCol="0" anchor="ctr"/>
          <a:lstStyle/>
          <a:p>
            <a:pPr indent="0" marL="0">
              <a:buNone/>
            </a:pPr>
            <a:r>
              <a:rPr lang="en-US" sz="1050" b="1" dirty="0">
                <a:solidFill>
                  <a:srgbClr val="22303C"/>
                </a:solidFill>
              </a:rPr>
              <a:t>Amazon</a:t>
            </a:r>
            <a:endParaRPr lang="en-US" sz="1050" dirty="0"/>
          </a:p>
          <a:p>
            <a:pPr indent="0" marL="0">
              <a:buNone/>
            </a:pPr>
            <a:r>
              <a:rPr lang="en-US" sz="1050" dirty="0">
                <a:solidFill>
                  <a:srgbClr val="22303C"/>
                </a:solidFill>
              </a:rPr>
              <a:t>Problem: slow delivery, uncertain demand</a:t>
            </a:r>
            <a:endParaRPr lang="en-US" sz="1050" dirty="0"/>
          </a:p>
          <a:p>
            <a:pPr indent="0" marL="0">
              <a:buNone/>
            </a:pPr>
            <a:r>
              <a:rPr lang="en-US" sz="1050" dirty="0">
                <a:solidFill>
                  <a:srgbClr val="22303C"/>
                </a:solidFill>
              </a:rPr>
              <a:t>Solution: regional forecasting, nearby stock, robots</a:t>
            </a:r>
            <a:endParaRPr lang="en-US" sz="1050" dirty="0"/>
          </a:p>
          <a:p>
            <a:pPr indent="0" marL="0">
              <a:buNone/>
            </a:pPr>
            <a:r>
              <a:rPr lang="en-US" sz="1050" b="1" dirty="0">
                <a:solidFill>
                  <a:srgbClr val="22303C"/>
                </a:solidFill>
              </a:rPr>
              <a:t>Result: 74% of orders in-region; 75% robot-assisted</a:t>
            </a:r>
            <a:endParaRPr lang="en-US" sz="1050" dirty="0"/>
          </a:p>
        </p:txBody>
      </p:sp>
      <p:sp>
        <p:nvSpPr>
          <p:cNvPr id="18" name="Shape 13"/>
          <p:cNvSpPr/>
          <p:nvPr/>
        </p:nvSpPr>
        <p:spPr>
          <a:xfrm>
            <a:off x="457200" y="3163824"/>
            <a:ext cx="5394960" cy="914400"/>
          </a:xfrm>
          <a:prstGeom prst="roundRect">
            <a:avLst>
              <a:gd name="adj" fmla="val 8000"/>
            </a:avLst>
          </a:prstGeom>
          <a:solidFill>
            <a:srgbClr val="FFFFFF"/>
          </a:solidFill>
          <a:ln w="12700">
            <a:solidFill>
              <a:srgbClr val="DDE3EA"/>
            </a:solidFill>
            <a:prstDash val="solid"/>
          </a:ln>
        </p:spPr>
      </p:sp>
      <p:sp>
        <p:nvSpPr>
          <p:cNvPr id="19" name="Shape 14"/>
          <p:cNvSpPr/>
          <p:nvPr/>
        </p:nvSpPr>
        <p:spPr>
          <a:xfrm>
            <a:off x="566928" y="3346704"/>
            <a:ext cx="548640" cy="548640"/>
          </a:xfrm>
          <a:prstGeom prst="ellipse">
            <a:avLst/>
          </a:prstGeom>
          <a:solidFill>
            <a:srgbClr val="14213D"/>
          </a:solidFill>
          <a:ln w="12700">
            <a:solidFill>
              <a:srgbClr val="14213D"/>
            </a:solidFill>
            <a:prstDash val="solid"/>
          </a:ln>
        </p:spPr>
      </p:sp>
      <p:pic>
        <p:nvPicPr>
          <p:cNvPr id="20" name="Image 2" descr="preencoded.png">    </p:cNvPr>
          <p:cNvPicPr>
            <a:picLocks noChangeAspect="1"/>
          </p:cNvPicPr>
          <p:nvPr/>
        </p:nvPicPr>
        <p:blipFill>
          <a:blip r:embed="rId3"/>
          <a:stretch>
            <a:fillRect/>
          </a:stretch>
        </p:blipFill>
        <p:spPr>
          <a:xfrm>
            <a:off x="704088" y="3483864"/>
            <a:ext cx="274320" cy="274320"/>
          </a:xfrm>
          <a:prstGeom prst="rect">
            <a:avLst/>
          </a:prstGeom>
        </p:spPr>
      </p:pic>
      <p:sp>
        <p:nvSpPr>
          <p:cNvPr id="21" name="Text 15"/>
          <p:cNvSpPr txBox="1"/>
          <p:nvPr/>
        </p:nvSpPr>
        <p:spPr>
          <a:xfrm>
            <a:off x="1280160" y="3218688"/>
            <a:ext cx="4480560" cy="822960"/>
          </a:xfrm>
          <a:prstGeom prst="rect">
            <a:avLst/>
          </a:prstGeom>
          <a:noFill/>
          <a:ln/>
        </p:spPr>
        <p:txBody>
          <a:bodyPr wrap="square" lIns="0" tIns="0" rIns="0" bIns="0" rtlCol="0" anchor="ctr"/>
          <a:lstStyle/>
          <a:p>
            <a:pPr indent="0" marL="0">
              <a:buNone/>
            </a:pPr>
            <a:r>
              <a:rPr lang="en-US" sz="1050" b="1" dirty="0">
                <a:solidFill>
                  <a:srgbClr val="22303C"/>
                </a:solidFill>
              </a:rPr>
              <a:t>Maersk</a:t>
            </a:r>
            <a:endParaRPr lang="en-US" sz="1050" dirty="0"/>
          </a:p>
          <a:p>
            <a:pPr indent="0" marL="0">
              <a:buNone/>
            </a:pPr>
            <a:r>
              <a:rPr lang="en-US" sz="1050" dirty="0">
                <a:solidFill>
                  <a:srgbClr val="22303C"/>
                </a:solidFill>
              </a:rPr>
              <a:t>Problem: fuel cost, schedule risk</a:t>
            </a:r>
            <a:endParaRPr lang="en-US" sz="1050" dirty="0"/>
          </a:p>
          <a:p>
            <a:pPr indent="0" marL="0">
              <a:buNone/>
            </a:pPr>
            <a:r>
              <a:rPr lang="en-US" sz="1050" dirty="0">
                <a:solidFill>
                  <a:srgbClr val="22303C"/>
                </a:solidFill>
              </a:rPr>
              <a:t>Solution: digital twins, route and speed optimisation</a:t>
            </a:r>
            <a:endParaRPr lang="en-US" sz="1050" dirty="0"/>
          </a:p>
          <a:p>
            <a:pPr indent="0" marL="0">
              <a:buNone/>
            </a:pPr>
            <a:r>
              <a:rPr lang="en-US" sz="1050" b="1" dirty="0">
                <a:solidFill>
                  <a:srgbClr val="22303C"/>
                </a:solidFill>
              </a:rPr>
              <a:t>Result: about 9–12% fuel saved (sources vary)</a:t>
            </a:r>
            <a:endParaRPr lang="en-US" sz="1050" dirty="0"/>
          </a:p>
        </p:txBody>
      </p:sp>
      <p:sp>
        <p:nvSpPr>
          <p:cNvPr id="22" name="Shape 16"/>
          <p:cNvSpPr/>
          <p:nvPr/>
        </p:nvSpPr>
        <p:spPr>
          <a:xfrm>
            <a:off x="6035040" y="1097280"/>
            <a:ext cx="2651760" cy="2971800"/>
          </a:xfrm>
          <a:prstGeom prst="roundRect">
            <a:avLst>
              <a:gd name="adj" fmla="val 2759"/>
            </a:avLst>
          </a:prstGeom>
          <a:solidFill>
            <a:srgbClr val="FFFFFF"/>
          </a:solidFill>
          <a:ln w="12700">
            <a:solidFill>
              <a:srgbClr val="DDE3EA"/>
            </a:solidFill>
            <a:prstDash val="solid"/>
          </a:ln>
        </p:spPr>
      </p:sp>
      <p:graphicFrame>
        <p:nvGraphicFramePr>
          <p:cNvPr id="23" name="Chart 0" descr=""/>
          <p:cNvGraphicFramePr/>
          <p:nvPr/>
        </p:nvGraphicFramePr>
        <p:xfrm>
          <a:off x="6080760" y="1188720"/>
          <a:ext cx="2560320" cy="2788920"/>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The AI behind the solutions, explained simply</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Three narrow AI tools, each doing one job well.</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Worked examples: routes S-A-G cost 10 vs S-B-C-G cost 9; forecast 90/130/90 vs actual 100/120/80 gives MAPE 10.3%</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6</a:t>
            </a:r>
            <a:endParaRPr lang="en-US" sz="900" dirty="0"/>
          </a:p>
        </p:txBody>
      </p:sp>
      <p:sp>
        <p:nvSpPr>
          <p:cNvPr id="10" name="Shape 7"/>
          <p:cNvSpPr/>
          <p:nvPr/>
        </p:nvSpPr>
        <p:spPr>
          <a:xfrm>
            <a:off x="457200" y="1097280"/>
            <a:ext cx="2651760" cy="2971800"/>
          </a:xfrm>
          <a:prstGeom prst="roundRect">
            <a:avLst>
              <a:gd name="adj" fmla="val 2759"/>
            </a:avLst>
          </a:prstGeom>
          <a:solidFill>
            <a:srgbClr val="FFFFFF"/>
          </a:solidFill>
          <a:ln w="12700">
            <a:solidFill>
              <a:srgbClr val="DDE3EA"/>
            </a:solidFill>
            <a:prstDash val="solid"/>
          </a:ln>
        </p:spPr>
      </p:sp>
      <p:sp>
        <p:nvSpPr>
          <p:cNvPr id="11" name="Shape 8"/>
          <p:cNvSpPr/>
          <p:nvPr/>
        </p:nvSpPr>
        <p:spPr>
          <a:xfrm>
            <a:off x="594360" y="1188720"/>
            <a:ext cx="548640" cy="548640"/>
          </a:xfrm>
          <a:prstGeom prst="ellipse">
            <a:avLst/>
          </a:prstGeom>
          <a:solidFill>
            <a:srgbClr val="0F8B8D"/>
          </a:solidFill>
          <a:ln w="12700">
            <a:solidFill>
              <a:srgbClr val="0F8B8D"/>
            </a:solidFill>
            <a:prstDash val="solid"/>
          </a:ln>
        </p:spPr>
      </p:sp>
      <p:pic>
        <p:nvPicPr>
          <p:cNvPr id="12" name="Image 0" descr="preencoded.png">    </p:cNvPr>
          <p:cNvPicPr>
            <a:picLocks noChangeAspect="1"/>
          </p:cNvPicPr>
          <p:nvPr/>
        </p:nvPicPr>
        <p:blipFill>
          <a:blip r:embed="rId1"/>
          <a:stretch>
            <a:fillRect/>
          </a:stretch>
        </p:blipFill>
        <p:spPr>
          <a:xfrm>
            <a:off x="731520" y="1325880"/>
            <a:ext cx="274320" cy="274320"/>
          </a:xfrm>
          <a:prstGeom prst="rect">
            <a:avLst/>
          </a:prstGeom>
        </p:spPr>
      </p:pic>
      <p:sp>
        <p:nvSpPr>
          <p:cNvPr id="13" name="Text 9"/>
          <p:cNvSpPr txBox="1"/>
          <p:nvPr/>
        </p:nvSpPr>
        <p:spPr>
          <a:xfrm>
            <a:off x="1234440" y="1188720"/>
            <a:ext cx="1783080" cy="548640"/>
          </a:xfrm>
          <a:prstGeom prst="rect">
            <a:avLst/>
          </a:prstGeom>
          <a:noFill/>
          <a:ln/>
        </p:spPr>
        <p:txBody>
          <a:bodyPr wrap="square" lIns="0" tIns="0" rIns="0" bIns="0" rtlCol="0" anchor="ctr"/>
          <a:lstStyle/>
          <a:p>
            <a:pPr indent="0" marL="0">
              <a:buNone/>
            </a:pPr>
            <a:r>
              <a:rPr lang="en-US" sz="1600" b="1" dirty="0">
                <a:solidFill>
                  <a:srgbClr val="14213D"/>
                </a:solidFill>
              </a:rPr>
              <a:t>Routing</a:t>
            </a:r>
            <a:endParaRPr lang="en-US" sz="1600" dirty="0"/>
          </a:p>
        </p:txBody>
      </p:sp>
      <p:sp>
        <p:nvSpPr>
          <p:cNvPr id="14" name="Text 10"/>
          <p:cNvSpPr txBox="1"/>
          <p:nvPr/>
        </p:nvSpPr>
        <p:spPr>
          <a:xfrm>
            <a:off x="594360" y="1828800"/>
            <a:ext cx="2377440" cy="320040"/>
          </a:xfrm>
          <a:prstGeom prst="rect">
            <a:avLst/>
          </a:prstGeom>
          <a:noFill/>
          <a:ln/>
        </p:spPr>
        <p:txBody>
          <a:bodyPr wrap="square" lIns="0" tIns="0" rIns="0" bIns="0" rtlCol="0" anchor="t"/>
          <a:lstStyle/>
          <a:p>
            <a:pPr indent="0" marL="0">
              <a:buNone/>
            </a:pPr>
            <a:r>
              <a:rPr lang="en-US" sz="1200" b="1" dirty="0">
                <a:solidFill>
                  <a:srgbClr val="0F8B8D"/>
                </a:solidFill>
              </a:rPr>
              <a:t>Like a GPS that learns</a:t>
            </a:r>
            <a:endParaRPr lang="en-US" sz="1200" dirty="0"/>
          </a:p>
        </p:txBody>
      </p:sp>
      <p:sp>
        <p:nvSpPr>
          <p:cNvPr id="15" name="Text 11"/>
          <p:cNvSpPr txBox="1"/>
          <p:nvPr/>
        </p:nvSpPr>
        <p:spPr>
          <a:xfrm>
            <a:off x="594360" y="2194560"/>
            <a:ext cx="2377440" cy="1143000"/>
          </a:xfrm>
          <a:prstGeom prst="rect">
            <a:avLst/>
          </a:prstGeom>
          <a:noFill/>
          <a:ln/>
        </p:spPr>
        <p:txBody>
          <a:bodyPr wrap="square" lIns="0" tIns="0" rIns="0" bIns="0" rtlCol="0" anchor="t"/>
          <a:lstStyle/>
          <a:p>
            <a:pPr indent="0" marL="0">
              <a:buNone/>
            </a:pPr>
            <a:r>
              <a:rPr lang="en-US" sz="1250" dirty="0">
                <a:solidFill>
                  <a:srgbClr val="22303C"/>
                </a:solidFill>
              </a:rPr>
              <a:t>A* adds cost so far to a smart guess of what is left. Example: cost 9 vs 10 for basic search.</a:t>
            </a:r>
            <a:endParaRPr lang="en-US" sz="1250" dirty="0"/>
          </a:p>
        </p:txBody>
      </p:sp>
      <p:sp>
        <p:nvSpPr>
          <p:cNvPr id="16" name="Shape 12"/>
          <p:cNvSpPr/>
          <p:nvPr/>
        </p:nvSpPr>
        <p:spPr>
          <a:xfrm>
            <a:off x="594360" y="3383280"/>
            <a:ext cx="2377440" cy="548640"/>
          </a:xfrm>
          <a:prstGeom prst="roundRect">
            <a:avLst>
              <a:gd name="adj" fmla="val 13333"/>
            </a:avLst>
          </a:prstGeom>
          <a:solidFill>
            <a:srgbClr val="F4F6F9"/>
          </a:solidFill>
          <a:ln w="12700">
            <a:solidFill>
              <a:srgbClr val="DDE3EA"/>
            </a:solidFill>
            <a:prstDash val="solid"/>
          </a:ln>
        </p:spPr>
      </p:sp>
      <p:sp>
        <p:nvSpPr>
          <p:cNvPr id="17" name="Text 13"/>
          <p:cNvSpPr txBox="1"/>
          <p:nvPr/>
        </p:nvSpPr>
        <p:spPr>
          <a:xfrm>
            <a:off x="640080" y="3383280"/>
            <a:ext cx="2286000" cy="548640"/>
          </a:xfrm>
          <a:prstGeom prst="rect">
            <a:avLst/>
          </a:prstGeom>
          <a:noFill/>
          <a:ln/>
        </p:spPr>
        <p:txBody>
          <a:bodyPr wrap="square" lIns="0" tIns="0" rIns="0" bIns="0" rtlCol="0" anchor="ctr"/>
          <a:lstStyle/>
          <a:p>
            <a:pPr algn="ctr" indent="0" marL="0">
              <a:buNone/>
            </a:pPr>
            <a:r>
              <a:rPr lang="en-US" sz="1000" b="1" dirty="0">
                <a:solidFill>
                  <a:srgbClr val="5C6B77"/>
                </a:solidFill>
              </a:rPr>
              <a:t>Graph search · A* · Reinforcement learning</a:t>
            </a:r>
            <a:endParaRPr lang="en-US" sz="1000" dirty="0"/>
          </a:p>
        </p:txBody>
      </p:sp>
      <p:sp>
        <p:nvSpPr>
          <p:cNvPr id="18" name="Shape 14"/>
          <p:cNvSpPr/>
          <p:nvPr/>
        </p:nvSpPr>
        <p:spPr>
          <a:xfrm>
            <a:off x="3246120" y="1097280"/>
            <a:ext cx="2651760" cy="2971800"/>
          </a:xfrm>
          <a:prstGeom prst="roundRect">
            <a:avLst>
              <a:gd name="adj" fmla="val 2759"/>
            </a:avLst>
          </a:prstGeom>
          <a:solidFill>
            <a:srgbClr val="FFFFFF"/>
          </a:solidFill>
          <a:ln w="12700">
            <a:solidFill>
              <a:srgbClr val="DDE3EA"/>
            </a:solidFill>
            <a:prstDash val="solid"/>
          </a:ln>
        </p:spPr>
      </p:sp>
      <p:sp>
        <p:nvSpPr>
          <p:cNvPr id="19" name="Shape 15"/>
          <p:cNvSpPr/>
          <p:nvPr/>
        </p:nvSpPr>
        <p:spPr>
          <a:xfrm>
            <a:off x="3383280" y="1188720"/>
            <a:ext cx="548640" cy="548640"/>
          </a:xfrm>
          <a:prstGeom prst="ellipse">
            <a:avLst/>
          </a:prstGeom>
          <a:solidFill>
            <a:srgbClr val="F2A541"/>
          </a:solidFill>
          <a:ln w="12700">
            <a:solidFill>
              <a:srgbClr val="F2A541"/>
            </a:solidFill>
            <a:prstDash val="solid"/>
          </a:ln>
        </p:spPr>
      </p:sp>
      <p:pic>
        <p:nvPicPr>
          <p:cNvPr id="20" name="Image 1" descr="preencoded.png">    </p:cNvPr>
          <p:cNvPicPr>
            <a:picLocks noChangeAspect="1"/>
          </p:cNvPicPr>
          <p:nvPr/>
        </p:nvPicPr>
        <p:blipFill>
          <a:blip r:embed="rId2"/>
          <a:stretch>
            <a:fillRect/>
          </a:stretch>
        </p:blipFill>
        <p:spPr>
          <a:xfrm>
            <a:off x="3520440" y="1325880"/>
            <a:ext cx="274320" cy="274320"/>
          </a:xfrm>
          <a:prstGeom prst="rect">
            <a:avLst/>
          </a:prstGeom>
        </p:spPr>
      </p:pic>
      <p:sp>
        <p:nvSpPr>
          <p:cNvPr id="21" name="Text 16"/>
          <p:cNvSpPr txBox="1"/>
          <p:nvPr/>
        </p:nvSpPr>
        <p:spPr>
          <a:xfrm>
            <a:off x="4023360" y="1188720"/>
            <a:ext cx="1783080" cy="548640"/>
          </a:xfrm>
          <a:prstGeom prst="rect">
            <a:avLst/>
          </a:prstGeom>
          <a:noFill/>
          <a:ln/>
        </p:spPr>
        <p:txBody>
          <a:bodyPr wrap="square" lIns="0" tIns="0" rIns="0" bIns="0" rtlCol="0" anchor="ctr"/>
          <a:lstStyle/>
          <a:p>
            <a:pPr indent="0" marL="0">
              <a:buNone/>
            </a:pPr>
            <a:r>
              <a:rPr lang="en-US" sz="1600" b="1" dirty="0">
                <a:solidFill>
                  <a:srgbClr val="14213D"/>
                </a:solidFill>
              </a:rPr>
              <a:t>Forecasting</a:t>
            </a:r>
            <a:endParaRPr lang="en-US" sz="1600" dirty="0"/>
          </a:p>
        </p:txBody>
      </p:sp>
      <p:sp>
        <p:nvSpPr>
          <p:cNvPr id="22" name="Text 17"/>
          <p:cNvSpPr txBox="1"/>
          <p:nvPr/>
        </p:nvSpPr>
        <p:spPr>
          <a:xfrm>
            <a:off x="3383280" y="1828800"/>
            <a:ext cx="2377440" cy="320040"/>
          </a:xfrm>
          <a:prstGeom prst="rect">
            <a:avLst/>
          </a:prstGeom>
          <a:noFill/>
          <a:ln/>
        </p:spPr>
        <p:txBody>
          <a:bodyPr wrap="square" lIns="0" tIns="0" rIns="0" bIns="0" rtlCol="0" anchor="t"/>
          <a:lstStyle/>
          <a:p>
            <a:pPr indent="0" marL="0">
              <a:buNone/>
            </a:pPr>
            <a:r>
              <a:rPr lang="en-US" sz="1200" b="1" dirty="0">
                <a:solidFill>
                  <a:srgbClr val="F2A541"/>
                </a:solidFill>
              </a:rPr>
              <a:t>Like a weather forecast for shipments</a:t>
            </a:r>
            <a:endParaRPr lang="en-US" sz="1200" dirty="0"/>
          </a:p>
        </p:txBody>
      </p:sp>
      <p:sp>
        <p:nvSpPr>
          <p:cNvPr id="23" name="Text 18"/>
          <p:cNvSpPr txBox="1"/>
          <p:nvPr/>
        </p:nvSpPr>
        <p:spPr>
          <a:xfrm>
            <a:off x="3383280" y="2194560"/>
            <a:ext cx="2377440" cy="1143000"/>
          </a:xfrm>
          <a:prstGeom prst="rect">
            <a:avLst/>
          </a:prstGeom>
          <a:noFill/>
          <a:ln/>
        </p:spPr>
        <p:txBody>
          <a:bodyPr wrap="square" lIns="0" tIns="0" rIns="0" bIns="0" rtlCol="0" anchor="t"/>
          <a:lstStyle/>
          <a:p>
            <a:pPr indent="0" marL="0">
              <a:buNone/>
            </a:pPr>
            <a:r>
              <a:rPr lang="en-US" sz="1250" dirty="0">
                <a:solidFill>
                  <a:srgbClr val="22303C"/>
                </a:solidFill>
              </a:rPr>
              <a:t>Learns from past volumes, festivals and weather; gives ranges. Example error (MAPE): 10.3%.</a:t>
            </a:r>
            <a:endParaRPr lang="en-US" sz="1250" dirty="0"/>
          </a:p>
        </p:txBody>
      </p:sp>
      <p:sp>
        <p:nvSpPr>
          <p:cNvPr id="24" name="Shape 19"/>
          <p:cNvSpPr/>
          <p:nvPr/>
        </p:nvSpPr>
        <p:spPr>
          <a:xfrm>
            <a:off x="3383280" y="3383280"/>
            <a:ext cx="2377440" cy="548640"/>
          </a:xfrm>
          <a:prstGeom prst="roundRect">
            <a:avLst>
              <a:gd name="adj" fmla="val 13333"/>
            </a:avLst>
          </a:prstGeom>
          <a:solidFill>
            <a:srgbClr val="F4F6F9"/>
          </a:solidFill>
          <a:ln w="12700">
            <a:solidFill>
              <a:srgbClr val="DDE3EA"/>
            </a:solidFill>
            <a:prstDash val="solid"/>
          </a:ln>
        </p:spPr>
      </p:sp>
      <p:sp>
        <p:nvSpPr>
          <p:cNvPr id="25" name="Text 20"/>
          <p:cNvSpPr txBox="1"/>
          <p:nvPr/>
        </p:nvSpPr>
        <p:spPr>
          <a:xfrm>
            <a:off x="3429000" y="3383280"/>
            <a:ext cx="2286000" cy="548640"/>
          </a:xfrm>
          <a:prstGeom prst="rect">
            <a:avLst/>
          </a:prstGeom>
          <a:noFill/>
          <a:ln/>
        </p:spPr>
        <p:txBody>
          <a:bodyPr wrap="square" lIns="0" tIns="0" rIns="0" bIns="0" rtlCol="0" anchor="ctr"/>
          <a:lstStyle/>
          <a:p>
            <a:pPr algn="ctr" indent="0" marL="0">
              <a:buNone/>
            </a:pPr>
            <a:r>
              <a:rPr lang="en-US" sz="1000" b="1" dirty="0">
                <a:solidFill>
                  <a:srgbClr val="5C6B77"/>
                </a:solidFill>
              </a:rPr>
              <a:t>Supervised ML · LSTM · Probability</a:t>
            </a:r>
            <a:endParaRPr lang="en-US" sz="1000" dirty="0"/>
          </a:p>
        </p:txBody>
      </p:sp>
      <p:sp>
        <p:nvSpPr>
          <p:cNvPr id="26" name="Shape 21"/>
          <p:cNvSpPr/>
          <p:nvPr/>
        </p:nvSpPr>
        <p:spPr>
          <a:xfrm>
            <a:off x="6035040" y="1097280"/>
            <a:ext cx="2651760" cy="2971800"/>
          </a:xfrm>
          <a:prstGeom prst="roundRect">
            <a:avLst>
              <a:gd name="adj" fmla="val 2759"/>
            </a:avLst>
          </a:prstGeom>
          <a:solidFill>
            <a:srgbClr val="FFFFFF"/>
          </a:solidFill>
          <a:ln w="12700">
            <a:solidFill>
              <a:srgbClr val="DDE3EA"/>
            </a:solidFill>
            <a:prstDash val="solid"/>
          </a:ln>
        </p:spPr>
      </p:sp>
      <p:sp>
        <p:nvSpPr>
          <p:cNvPr id="27" name="Shape 22"/>
          <p:cNvSpPr/>
          <p:nvPr/>
        </p:nvSpPr>
        <p:spPr>
          <a:xfrm>
            <a:off x="6172200" y="1188720"/>
            <a:ext cx="548640" cy="548640"/>
          </a:xfrm>
          <a:prstGeom prst="ellipse">
            <a:avLst/>
          </a:prstGeom>
          <a:solidFill>
            <a:srgbClr val="14213D"/>
          </a:solidFill>
          <a:ln w="12700">
            <a:solidFill>
              <a:srgbClr val="14213D"/>
            </a:solidFill>
            <a:prstDash val="solid"/>
          </a:ln>
        </p:spPr>
      </p:sp>
      <p:pic>
        <p:nvPicPr>
          <p:cNvPr id="28" name="Image 2" descr="preencoded.png">    </p:cNvPr>
          <p:cNvPicPr>
            <a:picLocks noChangeAspect="1"/>
          </p:cNvPicPr>
          <p:nvPr/>
        </p:nvPicPr>
        <p:blipFill>
          <a:blip r:embed="rId3"/>
          <a:stretch>
            <a:fillRect/>
          </a:stretch>
        </p:blipFill>
        <p:spPr>
          <a:xfrm>
            <a:off x="6309360" y="1325880"/>
            <a:ext cx="274320" cy="274320"/>
          </a:xfrm>
          <a:prstGeom prst="rect">
            <a:avLst/>
          </a:prstGeom>
        </p:spPr>
      </p:pic>
      <p:sp>
        <p:nvSpPr>
          <p:cNvPr id="29" name="Text 23"/>
          <p:cNvSpPr txBox="1"/>
          <p:nvPr/>
        </p:nvSpPr>
        <p:spPr>
          <a:xfrm>
            <a:off x="6812280" y="1188720"/>
            <a:ext cx="1783080" cy="548640"/>
          </a:xfrm>
          <a:prstGeom prst="rect">
            <a:avLst/>
          </a:prstGeom>
          <a:noFill/>
          <a:ln/>
        </p:spPr>
        <p:txBody>
          <a:bodyPr wrap="square" lIns="0" tIns="0" rIns="0" bIns="0" rtlCol="0" anchor="ctr"/>
          <a:lstStyle/>
          <a:p>
            <a:pPr indent="0" marL="0">
              <a:buNone/>
            </a:pPr>
            <a:r>
              <a:rPr lang="en-US" sz="1600" b="1" dirty="0">
                <a:solidFill>
                  <a:srgbClr val="14213D"/>
                </a:solidFill>
              </a:rPr>
              <a:t>Warehouse</a:t>
            </a:r>
            <a:endParaRPr lang="en-US" sz="1600" dirty="0"/>
          </a:p>
        </p:txBody>
      </p:sp>
      <p:sp>
        <p:nvSpPr>
          <p:cNvPr id="30" name="Text 24"/>
          <p:cNvSpPr txBox="1"/>
          <p:nvPr/>
        </p:nvSpPr>
        <p:spPr>
          <a:xfrm>
            <a:off x="6172200" y="1828800"/>
            <a:ext cx="2377440" cy="320040"/>
          </a:xfrm>
          <a:prstGeom prst="rect">
            <a:avLst/>
          </a:prstGeom>
          <a:noFill/>
          <a:ln/>
        </p:spPr>
        <p:txBody>
          <a:bodyPr wrap="square" lIns="0" tIns="0" rIns="0" bIns="0" rtlCol="0" anchor="t"/>
          <a:lstStyle/>
          <a:p>
            <a:pPr indent="0" marL="0">
              <a:buNone/>
            </a:pPr>
            <a:r>
              <a:rPr lang="en-US" sz="1200" b="1" dirty="0">
                <a:solidFill>
                  <a:srgbClr val="14213D"/>
                </a:solidFill>
              </a:rPr>
              <a:t>Like a smart, tireless packer</a:t>
            </a:r>
            <a:endParaRPr lang="en-US" sz="1200" dirty="0"/>
          </a:p>
        </p:txBody>
      </p:sp>
      <p:sp>
        <p:nvSpPr>
          <p:cNvPr id="31" name="Text 25"/>
          <p:cNvSpPr txBox="1"/>
          <p:nvPr/>
        </p:nvSpPr>
        <p:spPr>
          <a:xfrm>
            <a:off x="6172200" y="2194560"/>
            <a:ext cx="2377440" cy="1143000"/>
          </a:xfrm>
          <a:prstGeom prst="rect">
            <a:avLst/>
          </a:prstGeom>
          <a:noFill/>
          <a:ln/>
        </p:spPr>
        <p:txBody>
          <a:bodyPr wrap="square" lIns="0" tIns="0" rIns="0" bIns="0" rtlCol="0" anchor="t"/>
          <a:lstStyle/>
          <a:p>
            <a:pPr indent="0" marL="0">
              <a:buNone/>
            </a:pPr>
            <a:r>
              <a:rPr lang="en-US" sz="1250" dirty="0">
                <a:solidFill>
                  <a:srgbClr val="22303C"/>
                </a:solidFill>
              </a:rPr>
              <a:t>Rules choose what to pick first; a knowledge graph links items, bins, vehicles; robots sort parcels.</a:t>
            </a:r>
            <a:endParaRPr lang="en-US" sz="1250" dirty="0"/>
          </a:p>
        </p:txBody>
      </p:sp>
      <p:sp>
        <p:nvSpPr>
          <p:cNvPr id="32" name="Shape 26"/>
          <p:cNvSpPr/>
          <p:nvPr/>
        </p:nvSpPr>
        <p:spPr>
          <a:xfrm>
            <a:off x="6172200" y="3383280"/>
            <a:ext cx="2377440" cy="548640"/>
          </a:xfrm>
          <a:prstGeom prst="roundRect">
            <a:avLst>
              <a:gd name="adj" fmla="val 13333"/>
            </a:avLst>
          </a:prstGeom>
          <a:solidFill>
            <a:srgbClr val="F4F6F9"/>
          </a:solidFill>
          <a:ln w="12700">
            <a:solidFill>
              <a:srgbClr val="DDE3EA"/>
            </a:solidFill>
            <a:prstDash val="solid"/>
          </a:ln>
        </p:spPr>
      </p:sp>
      <p:sp>
        <p:nvSpPr>
          <p:cNvPr id="33" name="Text 27"/>
          <p:cNvSpPr txBox="1"/>
          <p:nvPr/>
        </p:nvSpPr>
        <p:spPr>
          <a:xfrm>
            <a:off x="6217920" y="3383280"/>
            <a:ext cx="2286000" cy="548640"/>
          </a:xfrm>
          <a:prstGeom prst="rect">
            <a:avLst/>
          </a:prstGeom>
          <a:noFill/>
          <a:ln/>
        </p:spPr>
        <p:txBody>
          <a:bodyPr wrap="square" lIns="0" tIns="0" rIns="0" bIns="0" rtlCol="0" anchor="ctr"/>
          <a:lstStyle/>
          <a:p>
            <a:pPr algn="ctr" indent="0" marL="0">
              <a:buNone/>
            </a:pPr>
            <a:r>
              <a:rPr lang="en-US" sz="1000" b="1" dirty="0">
                <a:solidFill>
                  <a:srgbClr val="5C6B77"/>
                </a:solidFill>
              </a:rPr>
              <a:t>Rules · Knowledge graph · Vision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Recommendation: one connected, data-led AI system</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Start with the cheapest, fastest win, then build on it; automate only where it pays back.</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Fuel share and savings are illustrative assumptions. Savings: Enki AI 2025, Supply Chain Digital 2025, FreightWaves 2018 (McKinsey). Payback: ICMR case vs Indian Infrastructure.</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7</a:t>
            </a:r>
            <a:endParaRPr lang="en-US" sz="900" dirty="0"/>
          </a:p>
        </p:txBody>
      </p:sp>
      <p:sp>
        <p:nvSpPr>
          <p:cNvPr id="10" name="Shape 7"/>
          <p:cNvSpPr/>
          <p:nvPr/>
        </p:nvSpPr>
        <p:spPr>
          <a:xfrm>
            <a:off x="457200" y="1097280"/>
            <a:ext cx="4297680" cy="868680"/>
          </a:xfrm>
          <a:prstGeom prst="roundRect">
            <a:avLst>
              <a:gd name="adj" fmla="val 8421"/>
            </a:avLst>
          </a:prstGeom>
          <a:solidFill>
            <a:srgbClr val="FFFFFF"/>
          </a:solidFill>
          <a:ln w="12700">
            <a:solidFill>
              <a:srgbClr val="DDE3EA"/>
            </a:solidFill>
            <a:prstDash val="solid"/>
          </a:ln>
        </p:spPr>
      </p:sp>
      <p:sp>
        <p:nvSpPr>
          <p:cNvPr id="11" name="Shape 8"/>
          <p:cNvSpPr/>
          <p:nvPr/>
        </p:nvSpPr>
        <p:spPr>
          <a:xfrm>
            <a:off x="566928" y="1280160"/>
            <a:ext cx="502920" cy="502920"/>
          </a:xfrm>
          <a:prstGeom prst="ellipse">
            <a:avLst/>
          </a:prstGeom>
          <a:solidFill>
            <a:srgbClr val="0F8B8D"/>
          </a:solidFill>
          <a:ln w="12700">
            <a:solidFill>
              <a:srgbClr val="0F8B8D"/>
            </a:solidFill>
            <a:prstDash val="solid"/>
          </a:ln>
        </p:spPr>
      </p:sp>
      <p:sp>
        <p:nvSpPr>
          <p:cNvPr id="12" name="Text 9"/>
          <p:cNvSpPr txBox="1"/>
          <p:nvPr/>
        </p:nvSpPr>
        <p:spPr>
          <a:xfrm>
            <a:off x="566928"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3" name="Text 10"/>
          <p:cNvSpPr txBox="1"/>
          <p:nvPr/>
        </p:nvSpPr>
        <p:spPr>
          <a:xfrm>
            <a:off x="1234440" y="1143000"/>
            <a:ext cx="3429000" cy="777240"/>
          </a:xfrm>
          <a:prstGeom prst="rect">
            <a:avLst/>
          </a:prstGeom>
          <a:noFill/>
          <a:ln/>
        </p:spPr>
        <p:txBody>
          <a:bodyPr wrap="square" lIns="0" tIns="0" rIns="0" bIns="0" rtlCol="0" anchor="ctr"/>
          <a:lstStyle/>
          <a:p>
            <a:pPr indent="0" marL="0">
              <a:buNone/>
            </a:pPr>
            <a:r>
              <a:rPr lang="en-US" sz="1150" b="1" dirty="0">
                <a:solidFill>
                  <a:srgbClr val="22303C"/>
                </a:solidFill>
              </a:rPr>
              <a:t>0–6 months</a:t>
            </a:r>
            <a:endParaRPr lang="en-US" sz="1150" dirty="0"/>
          </a:p>
          <a:p>
            <a:pPr indent="0" marL="0">
              <a:buNone/>
            </a:pPr>
            <a:r>
              <a:rPr lang="en-US" sz="1150" dirty="0">
                <a:solidFill>
                  <a:srgbClr val="22303C"/>
                </a:solidFill>
              </a:rPr>
              <a:t>Tracking and data foundation, then AI routing on busy corridors</a:t>
            </a:r>
            <a:endParaRPr lang="en-US" sz="1150" dirty="0"/>
          </a:p>
        </p:txBody>
      </p:sp>
      <p:sp>
        <p:nvSpPr>
          <p:cNvPr id="14" name="Shape 11"/>
          <p:cNvSpPr/>
          <p:nvPr/>
        </p:nvSpPr>
        <p:spPr>
          <a:xfrm>
            <a:off x="457200" y="2103120"/>
            <a:ext cx="4297680" cy="868680"/>
          </a:xfrm>
          <a:prstGeom prst="roundRect">
            <a:avLst>
              <a:gd name="adj" fmla="val 8421"/>
            </a:avLst>
          </a:prstGeom>
          <a:solidFill>
            <a:srgbClr val="FFFFFF"/>
          </a:solidFill>
          <a:ln w="12700">
            <a:solidFill>
              <a:srgbClr val="DDE3EA"/>
            </a:solidFill>
            <a:prstDash val="solid"/>
          </a:ln>
        </p:spPr>
      </p:sp>
      <p:sp>
        <p:nvSpPr>
          <p:cNvPr id="15" name="Shape 12"/>
          <p:cNvSpPr/>
          <p:nvPr/>
        </p:nvSpPr>
        <p:spPr>
          <a:xfrm>
            <a:off x="566928" y="2286000"/>
            <a:ext cx="502920" cy="502920"/>
          </a:xfrm>
          <a:prstGeom prst="ellipse">
            <a:avLst/>
          </a:prstGeom>
          <a:solidFill>
            <a:srgbClr val="F2A541"/>
          </a:solidFill>
          <a:ln w="12700">
            <a:solidFill>
              <a:srgbClr val="F2A541"/>
            </a:solidFill>
            <a:prstDash val="solid"/>
          </a:ln>
        </p:spPr>
      </p:sp>
      <p:sp>
        <p:nvSpPr>
          <p:cNvPr id="16" name="Text 13"/>
          <p:cNvSpPr txBox="1"/>
          <p:nvPr/>
        </p:nvSpPr>
        <p:spPr>
          <a:xfrm>
            <a:off x="566928" y="22860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7" name="Text 14"/>
          <p:cNvSpPr txBox="1"/>
          <p:nvPr/>
        </p:nvSpPr>
        <p:spPr>
          <a:xfrm>
            <a:off x="1234440" y="2148840"/>
            <a:ext cx="3429000" cy="777240"/>
          </a:xfrm>
          <a:prstGeom prst="rect">
            <a:avLst/>
          </a:prstGeom>
          <a:noFill/>
          <a:ln/>
        </p:spPr>
        <p:txBody>
          <a:bodyPr wrap="square" lIns="0" tIns="0" rIns="0" bIns="0" rtlCol="0" anchor="ctr"/>
          <a:lstStyle/>
          <a:p>
            <a:pPr indent="0" marL="0">
              <a:buNone/>
            </a:pPr>
            <a:r>
              <a:rPr lang="en-US" sz="1150" b="1" dirty="0">
                <a:solidFill>
                  <a:srgbClr val="22303C"/>
                </a:solidFill>
              </a:rPr>
              <a:t>6–12 months</a:t>
            </a:r>
            <a:endParaRPr lang="en-US" sz="1150" dirty="0"/>
          </a:p>
          <a:p>
            <a:pPr indent="0" marL="0">
              <a:buNone/>
            </a:pPr>
            <a:r>
              <a:rPr lang="en-US" sz="1150" dirty="0">
                <a:solidFill>
                  <a:srgbClr val="22303C"/>
                </a:solidFill>
              </a:rPr>
              <a:t>Demand forecasting linked to fleet and warehouse plans</a:t>
            </a:r>
            <a:endParaRPr lang="en-US" sz="1150" dirty="0"/>
          </a:p>
        </p:txBody>
      </p:sp>
      <p:sp>
        <p:nvSpPr>
          <p:cNvPr id="18" name="Shape 15"/>
          <p:cNvSpPr/>
          <p:nvPr/>
        </p:nvSpPr>
        <p:spPr>
          <a:xfrm>
            <a:off x="457200" y="3108960"/>
            <a:ext cx="4297680" cy="868680"/>
          </a:xfrm>
          <a:prstGeom prst="roundRect">
            <a:avLst>
              <a:gd name="adj" fmla="val 8421"/>
            </a:avLst>
          </a:prstGeom>
          <a:solidFill>
            <a:srgbClr val="FFFFFF"/>
          </a:solidFill>
          <a:ln w="12700">
            <a:solidFill>
              <a:srgbClr val="DDE3EA"/>
            </a:solidFill>
            <a:prstDash val="solid"/>
          </a:ln>
        </p:spPr>
      </p:sp>
      <p:sp>
        <p:nvSpPr>
          <p:cNvPr id="19" name="Shape 16"/>
          <p:cNvSpPr/>
          <p:nvPr/>
        </p:nvSpPr>
        <p:spPr>
          <a:xfrm>
            <a:off x="566928" y="3291840"/>
            <a:ext cx="502920" cy="502920"/>
          </a:xfrm>
          <a:prstGeom prst="ellipse">
            <a:avLst/>
          </a:prstGeom>
          <a:solidFill>
            <a:srgbClr val="14213D"/>
          </a:solidFill>
          <a:ln w="12700">
            <a:solidFill>
              <a:srgbClr val="14213D"/>
            </a:solidFill>
            <a:prstDash val="solid"/>
          </a:ln>
        </p:spPr>
      </p:sp>
      <p:sp>
        <p:nvSpPr>
          <p:cNvPr id="20" name="Text 17"/>
          <p:cNvSpPr txBox="1"/>
          <p:nvPr/>
        </p:nvSpPr>
        <p:spPr>
          <a:xfrm>
            <a:off x="566928" y="32918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1" name="Text 18"/>
          <p:cNvSpPr txBox="1"/>
          <p:nvPr/>
        </p:nvSpPr>
        <p:spPr>
          <a:xfrm>
            <a:off x="1234440" y="3154680"/>
            <a:ext cx="3429000" cy="777240"/>
          </a:xfrm>
          <a:prstGeom prst="rect">
            <a:avLst/>
          </a:prstGeom>
          <a:noFill/>
          <a:ln/>
        </p:spPr>
        <p:txBody>
          <a:bodyPr wrap="square" lIns="0" tIns="0" rIns="0" bIns="0" rtlCol="0" anchor="ctr"/>
          <a:lstStyle/>
          <a:p>
            <a:pPr indent="0" marL="0">
              <a:buNone/>
            </a:pPr>
            <a:r>
              <a:rPr lang="en-US" sz="1150" b="1" dirty="0">
                <a:solidFill>
                  <a:srgbClr val="22303C"/>
                </a:solidFill>
              </a:rPr>
              <a:t>12+ months</a:t>
            </a:r>
            <a:endParaRPr lang="en-US" sz="1150" dirty="0"/>
          </a:p>
          <a:p>
            <a:pPr indent="0" marL="0">
              <a:buNone/>
            </a:pPr>
            <a:r>
              <a:rPr lang="en-US" sz="1150" dirty="0">
                <a:solidFill>
                  <a:srgbClr val="22303C"/>
                </a:solidFill>
              </a:rPr>
              <a:t>Selective warehouse automation at high-volume hubs after a payback test</a:t>
            </a:r>
            <a:endParaRPr lang="en-US" sz="1150" dirty="0"/>
          </a:p>
        </p:txBody>
      </p:sp>
      <p:sp>
        <p:nvSpPr>
          <p:cNvPr id="22" name="Shape 19"/>
          <p:cNvSpPr/>
          <p:nvPr/>
        </p:nvSpPr>
        <p:spPr>
          <a:xfrm>
            <a:off x="4937760" y="1097280"/>
            <a:ext cx="3749040" cy="1828800"/>
          </a:xfrm>
          <a:prstGeom prst="roundRect">
            <a:avLst>
              <a:gd name="adj" fmla="val 4000"/>
            </a:avLst>
          </a:prstGeom>
          <a:solidFill>
            <a:srgbClr val="FFFFFF"/>
          </a:solidFill>
          <a:ln w="12700">
            <a:solidFill>
              <a:srgbClr val="DDE3EA"/>
            </a:solidFill>
            <a:prstDash val="solid"/>
          </a:ln>
        </p:spPr>
      </p:sp>
      <p:graphicFrame>
        <p:nvGraphicFramePr>
          <p:cNvPr id="23" name="Chart 0" descr=""/>
          <p:cNvGraphicFramePr/>
          <p:nvPr/>
        </p:nvGraphicFramePr>
        <p:xfrm>
          <a:off x="4983480" y="1143000"/>
          <a:ext cx="3657600" cy="1737360"/>
        </p:xfrm>
        <a:graphic xmlns:a="http://schemas.openxmlformats.org/drawingml/2006/main">
          <a:graphicData uri="http://schemas.openxmlformats.org/drawingml/2006/chart">
            <c:chart xmlns:c="http://schemas.openxmlformats.org/drawingml/2006/chart" r:id="rId1"/>
          </a:graphicData>
        </a:graphic>
      </p:graphicFrame>
      <p:sp>
        <p:nvSpPr>
          <p:cNvPr id="24" name="Shape 20"/>
          <p:cNvSpPr/>
          <p:nvPr/>
        </p:nvSpPr>
        <p:spPr>
          <a:xfrm>
            <a:off x="4937760" y="3063240"/>
            <a:ext cx="3749040" cy="1005840"/>
          </a:xfrm>
          <a:prstGeom prst="roundRect">
            <a:avLst>
              <a:gd name="adj" fmla="val 7273"/>
            </a:avLst>
          </a:prstGeom>
          <a:solidFill>
            <a:srgbClr val="14213D"/>
          </a:solidFill>
          <a:ln w="12700">
            <a:solidFill>
              <a:srgbClr val="14213D"/>
            </a:solidFill>
            <a:prstDash val="solid"/>
          </a:ln>
        </p:spPr>
      </p:sp>
      <p:sp>
        <p:nvSpPr>
          <p:cNvPr id="25" name="Text 21"/>
          <p:cNvSpPr txBox="1"/>
          <p:nvPr/>
        </p:nvSpPr>
        <p:spPr>
          <a:xfrm>
            <a:off x="5029200" y="3154680"/>
            <a:ext cx="3566160" cy="452628"/>
          </a:xfrm>
          <a:prstGeom prst="rect">
            <a:avLst/>
          </a:prstGeom>
          <a:noFill/>
          <a:ln/>
        </p:spPr>
        <p:txBody>
          <a:bodyPr wrap="square" lIns="0" tIns="0" rIns="0" bIns="0" rtlCol="0" anchor="ctr"/>
          <a:lstStyle/>
          <a:p>
            <a:pPr algn="ctr" indent="0" marL="0">
              <a:buNone/>
            </a:pPr>
            <a:r>
              <a:rPr lang="en-US" sz="2000" b="1" dirty="0">
                <a:solidFill>
                  <a:srgbClr val="FFFFFF"/>
                </a:solidFill>
              </a:rPr>
              <a:t>₹8–12 crore a year</a:t>
            </a:r>
            <a:endParaRPr lang="en-US" sz="2000" dirty="0"/>
          </a:p>
        </p:txBody>
      </p:sp>
      <p:sp>
        <p:nvSpPr>
          <p:cNvPr id="26" name="Text 22"/>
          <p:cNvSpPr txBox="1"/>
          <p:nvPr/>
        </p:nvSpPr>
        <p:spPr>
          <a:xfrm>
            <a:off x="5029200" y="3616452"/>
            <a:ext cx="3566160" cy="402336"/>
          </a:xfrm>
          <a:prstGeom prst="rect">
            <a:avLst/>
          </a:prstGeom>
          <a:noFill/>
          <a:ln/>
        </p:spPr>
        <p:txBody>
          <a:bodyPr wrap="square" lIns="0" tIns="0" rIns="0" bIns="0" rtlCol="0" anchor="t"/>
          <a:lstStyle/>
          <a:p>
            <a:pPr algn="ctr" indent="0" marL="0">
              <a:buNone/>
            </a:pPr>
            <a:r>
              <a:rPr lang="en-US" sz="1050" dirty="0">
                <a:solidFill>
                  <a:srgbClr val="FFFFFF"/>
                </a:solidFill>
              </a:rPr>
              <a:t>per ₹100 crore of fuel spend (illustrative: 8–12% saving)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4213D"/>
          </a:solidFill>
          <a:ln w="12700">
            <a:solidFill>
              <a:srgbClr val="14213D"/>
            </a:solidFill>
            <a:prstDash val="solid"/>
          </a:ln>
        </p:spPr>
      </p:sp>
      <p:sp>
        <p:nvSpPr>
          <p:cNvPr id="3" name="Shape 1"/>
          <p:cNvSpPr/>
          <p:nvPr/>
        </p:nvSpPr>
        <p:spPr>
          <a:xfrm>
            <a:off x="0" y="868680"/>
            <a:ext cx="9144000" cy="45720"/>
          </a:xfrm>
          <a:prstGeom prst="rect">
            <a:avLst/>
          </a:prstGeom>
          <a:solidFill>
            <a:srgbClr val="F2A541"/>
          </a:solidFill>
          <a:ln w="12700">
            <a:solidFill>
              <a:srgbClr val="F2A541"/>
            </a:solidFill>
            <a:prstDash val="solid"/>
          </a:ln>
        </p:spPr>
      </p:sp>
      <p:sp>
        <p:nvSpPr>
          <p:cNvPr id="4" name="Text 2"/>
          <p:cNvSpPr txBox="1"/>
          <p:nvPr/>
        </p:nvSpPr>
        <p:spPr>
          <a:xfrm>
            <a:off x="457200" y="109728"/>
            <a:ext cx="8229600" cy="658368"/>
          </a:xfrm>
          <a:prstGeom prst="rect">
            <a:avLst/>
          </a:prstGeom>
          <a:noFill/>
          <a:ln/>
        </p:spPr>
        <p:txBody>
          <a:bodyPr wrap="square" lIns="0" tIns="0" rIns="0" bIns="0" rtlCol="0" anchor="ctr"/>
          <a:lstStyle/>
          <a:p>
            <a:pPr indent="0" marL="0">
              <a:buNone/>
            </a:pPr>
            <a:r>
              <a:rPr lang="en-US" sz="2200" b="1" dirty="0">
                <a:solidFill>
                  <a:srgbClr val="FFFFFF"/>
                </a:solidFill>
              </a:rPr>
              <a:t>Making it work: safeguards and KPIs</a:t>
            </a:r>
            <a:endParaRPr lang="en-US" sz="2200" dirty="0"/>
          </a:p>
        </p:txBody>
      </p:sp>
      <p:sp>
        <p:nvSpPr>
          <p:cNvPr id="5" name="Shape 3"/>
          <p:cNvSpPr/>
          <p:nvPr/>
        </p:nvSpPr>
        <p:spPr>
          <a:xfrm>
            <a:off x="457200" y="4224528"/>
            <a:ext cx="8229600" cy="457200"/>
          </a:xfrm>
          <a:prstGeom prst="roundRect">
            <a:avLst>
              <a:gd name="adj" fmla="val 16000"/>
            </a:avLst>
          </a:prstGeom>
          <a:solidFill>
            <a:srgbClr val="FFF4E0"/>
          </a:solidFill>
          <a:ln w="12700">
            <a:solidFill>
              <a:srgbClr val="F2A541"/>
            </a:solidFill>
            <a:prstDash val="solid"/>
          </a:ln>
        </p:spPr>
      </p:sp>
      <p:sp>
        <p:nvSpPr>
          <p:cNvPr id="6" name="Text 4"/>
          <p:cNvSpPr txBox="1"/>
          <p:nvPr/>
        </p:nvSpPr>
        <p:spPr>
          <a:xfrm>
            <a:off x="594360" y="4224528"/>
            <a:ext cx="7955280" cy="457200"/>
          </a:xfrm>
          <a:prstGeom prst="rect">
            <a:avLst/>
          </a:prstGeom>
          <a:noFill/>
          <a:ln/>
        </p:spPr>
        <p:txBody>
          <a:bodyPr wrap="square" lIns="0" tIns="0" rIns="0" bIns="0" rtlCol="0" anchor="ctr"/>
          <a:lstStyle/>
          <a:p>
            <a:pPr indent="0" marL="0">
              <a:buNone/>
            </a:pPr>
            <a:r>
              <a:rPr lang="en-US" sz="1200" b="1" dirty="0">
                <a:solidFill>
                  <a:srgbClr val="22303C"/>
                </a:solidFill>
              </a:rPr>
              <a:t>In simple words: </a:t>
            </a:r>
            <a:pPr indent="0" marL="0">
              <a:buNone/>
            </a:pPr>
            <a:r>
              <a:rPr lang="en-US" sz="1200" dirty="0">
                <a:solidFill>
                  <a:srgbClr val="22303C"/>
                </a:solidFill>
              </a:rPr>
              <a:t>AI improves decisions across routing, demand and warehouses, if data, execution and ethics are right.</a:t>
            </a:r>
            <a:endParaRPr lang="en-US" sz="1200" dirty="0"/>
          </a:p>
        </p:txBody>
      </p:sp>
      <p:sp>
        <p:nvSpPr>
          <p:cNvPr id="7" name="Text 5"/>
          <p:cNvSpPr txBox="1"/>
          <p:nvPr/>
        </p:nvSpPr>
        <p:spPr>
          <a:xfrm>
            <a:off x="457200" y="4773168"/>
            <a:ext cx="8046720" cy="274320"/>
          </a:xfrm>
          <a:prstGeom prst="rect">
            <a:avLst/>
          </a:prstGeom>
          <a:noFill/>
          <a:ln/>
        </p:spPr>
        <p:txBody>
          <a:bodyPr wrap="square" lIns="0" tIns="0" rIns="0" bIns="0" rtlCol="0" anchor="t"/>
          <a:lstStyle/>
          <a:p>
            <a:pPr indent="0" marL="0">
              <a:buNone/>
            </a:pPr>
            <a:r>
              <a:rPr lang="en-US" sz="800" dirty="0">
                <a:solidFill>
                  <a:srgbClr val="5C6B77"/>
                </a:solidFill>
              </a:rPr>
              <a:t>Digital Personal Data Protection Act 2023. Many figures in this deck are vendor or company reported.</a:t>
            </a:r>
            <a:endParaRPr lang="en-US" sz="800" dirty="0"/>
          </a:p>
        </p:txBody>
      </p:sp>
      <p:sp>
        <p:nvSpPr>
          <p:cNvPr id="8" name="Text 6"/>
          <p:cNvSpPr txBox="1"/>
          <p:nvPr/>
        </p:nvSpPr>
        <p:spPr>
          <a:xfrm>
            <a:off x="8412480" y="4773168"/>
            <a:ext cx="274320" cy="228600"/>
          </a:xfrm>
          <a:prstGeom prst="rect">
            <a:avLst/>
          </a:prstGeom>
          <a:noFill/>
          <a:ln/>
        </p:spPr>
        <p:txBody>
          <a:bodyPr wrap="square" lIns="0" tIns="0" rIns="0" bIns="0" rtlCol="0" anchor="t"/>
          <a:lstStyle/>
          <a:p>
            <a:pPr algn="r" indent="0" marL="0">
              <a:buNone/>
            </a:pPr>
            <a:r>
              <a:rPr lang="en-US" sz="900" dirty="0">
                <a:solidFill>
                  <a:srgbClr val="5C6B77"/>
                </a:solidFill>
              </a:rPr>
              <a:t>8</a:t>
            </a:r>
            <a:endParaRPr lang="en-US" sz="900" dirty="0"/>
          </a:p>
        </p:txBody>
      </p:sp>
      <p:sp>
        <p:nvSpPr>
          <p:cNvPr id="10" name="Text 7"/>
          <p:cNvSpPr txBox="1"/>
          <p:nvPr/>
        </p:nvSpPr>
        <p:spPr>
          <a:xfrm>
            <a:off x="457200" y="1097280"/>
            <a:ext cx="3931920" cy="320040"/>
          </a:xfrm>
          <a:prstGeom prst="rect">
            <a:avLst/>
          </a:prstGeom>
          <a:noFill/>
          <a:ln/>
        </p:spPr>
        <p:txBody>
          <a:bodyPr wrap="square" lIns="0" tIns="0" rIns="0" bIns="0" rtlCol="0" anchor="t"/>
          <a:lstStyle/>
          <a:p>
            <a:pPr indent="0" marL="0">
              <a:buNone/>
            </a:pPr>
            <a:r>
              <a:rPr lang="en-US" sz="1500" b="1" dirty="0">
                <a:solidFill>
                  <a:srgbClr val="14213D"/>
                </a:solidFill>
              </a:rPr>
              <a:t>Responsible AI safeguards</a:t>
            </a:r>
            <a:endParaRPr lang="en-US" sz="1500" dirty="0"/>
          </a:p>
        </p:txBody>
      </p:sp>
      <p:sp>
        <p:nvSpPr>
          <p:cNvPr id="11" name="Shape 8"/>
          <p:cNvSpPr/>
          <p:nvPr/>
        </p:nvSpPr>
        <p:spPr>
          <a:xfrm>
            <a:off x="457200" y="1463040"/>
            <a:ext cx="3931920" cy="548640"/>
          </a:xfrm>
          <a:prstGeom prst="roundRect">
            <a:avLst>
              <a:gd name="adj" fmla="val 13333"/>
            </a:avLst>
          </a:prstGeom>
          <a:solidFill>
            <a:srgbClr val="FFFFFF"/>
          </a:solidFill>
          <a:ln w="12700">
            <a:solidFill>
              <a:srgbClr val="DDE3EA"/>
            </a:solidFill>
            <a:prstDash val="solid"/>
          </a:ln>
        </p:spPr>
      </p:sp>
      <p:sp>
        <p:nvSpPr>
          <p:cNvPr id="12" name="Text 9"/>
          <p:cNvSpPr txBox="1"/>
          <p:nvPr/>
        </p:nvSpPr>
        <p:spPr>
          <a:xfrm>
            <a:off x="594360" y="1463040"/>
            <a:ext cx="3657600" cy="548640"/>
          </a:xfrm>
          <a:prstGeom prst="rect">
            <a:avLst/>
          </a:prstGeom>
          <a:noFill/>
          <a:ln/>
        </p:spPr>
        <p:txBody>
          <a:bodyPr wrap="square" lIns="0" tIns="0" rIns="0" bIns="0" rtlCol="0" anchor="ctr"/>
          <a:lstStyle/>
          <a:p>
            <a:pPr indent="0" marL="0">
              <a:buNone/>
            </a:pPr>
            <a:r>
              <a:rPr lang="en-US" sz="1200" b="1" dirty="0">
                <a:solidFill>
                  <a:srgbClr val="22303C"/>
                </a:solidFill>
              </a:rPr>
              <a:t>Bias: </a:t>
            </a:r>
            <a:pPr indent="0" marL="0">
              <a:buNone/>
            </a:pPr>
            <a:r>
              <a:rPr lang="en-US" sz="1200" dirty="0">
                <a:solidFill>
                  <a:srgbClr val="22303C"/>
                </a:solidFill>
              </a:rPr>
              <a:t>audit forecasts by region</a:t>
            </a:r>
            <a:endParaRPr lang="en-US" sz="1200" dirty="0"/>
          </a:p>
        </p:txBody>
      </p:sp>
      <p:sp>
        <p:nvSpPr>
          <p:cNvPr id="13" name="Shape 10"/>
          <p:cNvSpPr/>
          <p:nvPr/>
        </p:nvSpPr>
        <p:spPr>
          <a:xfrm>
            <a:off x="457200" y="2121408"/>
            <a:ext cx="3931920" cy="548640"/>
          </a:xfrm>
          <a:prstGeom prst="roundRect">
            <a:avLst>
              <a:gd name="adj" fmla="val 13333"/>
            </a:avLst>
          </a:prstGeom>
          <a:solidFill>
            <a:srgbClr val="FFFFFF"/>
          </a:solidFill>
          <a:ln w="12700">
            <a:solidFill>
              <a:srgbClr val="DDE3EA"/>
            </a:solidFill>
            <a:prstDash val="solid"/>
          </a:ln>
        </p:spPr>
      </p:sp>
      <p:sp>
        <p:nvSpPr>
          <p:cNvPr id="14" name="Text 11"/>
          <p:cNvSpPr txBox="1"/>
          <p:nvPr/>
        </p:nvSpPr>
        <p:spPr>
          <a:xfrm>
            <a:off x="594360" y="2121408"/>
            <a:ext cx="3657600" cy="548640"/>
          </a:xfrm>
          <a:prstGeom prst="rect">
            <a:avLst/>
          </a:prstGeom>
          <a:noFill/>
          <a:ln/>
        </p:spPr>
        <p:txBody>
          <a:bodyPr wrap="square" lIns="0" tIns="0" rIns="0" bIns="0" rtlCol="0" anchor="ctr"/>
          <a:lstStyle/>
          <a:p>
            <a:pPr indent="0" marL="0">
              <a:buNone/>
            </a:pPr>
            <a:r>
              <a:rPr lang="en-US" sz="1200" b="1" dirty="0">
                <a:solidFill>
                  <a:srgbClr val="22303C"/>
                </a:solidFill>
              </a:rPr>
              <a:t>Transparency: </a:t>
            </a:r>
            <a:pPr indent="0" marL="0">
              <a:buNone/>
            </a:pPr>
            <a:r>
              <a:rPr lang="en-US" sz="1200" dirty="0">
                <a:solidFill>
                  <a:srgbClr val="22303C"/>
                </a:solidFill>
              </a:rPr>
              <a:t>explainable routes, human override</a:t>
            </a:r>
            <a:endParaRPr lang="en-US" sz="1200" dirty="0"/>
          </a:p>
        </p:txBody>
      </p:sp>
      <p:sp>
        <p:nvSpPr>
          <p:cNvPr id="15" name="Shape 12"/>
          <p:cNvSpPr/>
          <p:nvPr/>
        </p:nvSpPr>
        <p:spPr>
          <a:xfrm>
            <a:off x="457200" y="2779776"/>
            <a:ext cx="3931920" cy="548640"/>
          </a:xfrm>
          <a:prstGeom prst="roundRect">
            <a:avLst>
              <a:gd name="adj" fmla="val 13333"/>
            </a:avLst>
          </a:prstGeom>
          <a:solidFill>
            <a:srgbClr val="FFFFFF"/>
          </a:solidFill>
          <a:ln w="12700">
            <a:solidFill>
              <a:srgbClr val="DDE3EA"/>
            </a:solidFill>
            <a:prstDash val="solid"/>
          </a:ln>
        </p:spPr>
      </p:sp>
      <p:sp>
        <p:nvSpPr>
          <p:cNvPr id="16" name="Text 13"/>
          <p:cNvSpPr txBox="1"/>
          <p:nvPr/>
        </p:nvSpPr>
        <p:spPr>
          <a:xfrm>
            <a:off x="594360" y="2779776"/>
            <a:ext cx="3657600" cy="548640"/>
          </a:xfrm>
          <a:prstGeom prst="rect">
            <a:avLst/>
          </a:prstGeom>
          <a:noFill/>
          <a:ln/>
        </p:spPr>
        <p:txBody>
          <a:bodyPr wrap="square" lIns="0" tIns="0" rIns="0" bIns="0" rtlCol="0" anchor="ctr"/>
          <a:lstStyle/>
          <a:p>
            <a:pPr indent="0" marL="0">
              <a:buNone/>
            </a:pPr>
            <a:r>
              <a:rPr lang="en-US" sz="1200" b="1" dirty="0">
                <a:solidFill>
                  <a:srgbClr val="22303C"/>
                </a:solidFill>
              </a:rPr>
              <a:t>Privacy: </a:t>
            </a:r>
            <a:pPr indent="0" marL="0">
              <a:buNone/>
            </a:pPr>
            <a:r>
              <a:rPr lang="en-US" sz="1200" dirty="0">
                <a:solidFill>
                  <a:srgbClr val="22303C"/>
                </a:solidFill>
              </a:rPr>
              <a:t>driver GPS consent, DPDP Act 2023</a:t>
            </a:r>
            <a:endParaRPr lang="en-US" sz="1200" dirty="0"/>
          </a:p>
        </p:txBody>
      </p:sp>
      <p:sp>
        <p:nvSpPr>
          <p:cNvPr id="17" name="Shape 14"/>
          <p:cNvSpPr/>
          <p:nvPr/>
        </p:nvSpPr>
        <p:spPr>
          <a:xfrm>
            <a:off x="457200" y="3438144"/>
            <a:ext cx="3931920" cy="548640"/>
          </a:xfrm>
          <a:prstGeom prst="roundRect">
            <a:avLst>
              <a:gd name="adj" fmla="val 13333"/>
            </a:avLst>
          </a:prstGeom>
          <a:solidFill>
            <a:srgbClr val="FFFFFF"/>
          </a:solidFill>
          <a:ln w="12700">
            <a:solidFill>
              <a:srgbClr val="DDE3EA"/>
            </a:solidFill>
            <a:prstDash val="solid"/>
          </a:ln>
        </p:spPr>
      </p:sp>
      <p:sp>
        <p:nvSpPr>
          <p:cNvPr id="18" name="Text 15"/>
          <p:cNvSpPr txBox="1"/>
          <p:nvPr/>
        </p:nvSpPr>
        <p:spPr>
          <a:xfrm>
            <a:off x="594360" y="3438144"/>
            <a:ext cx="3657600" cy="548640"/>
          </a:xfrm>
          <a:prstGeom prst="rect">
            <a:avLst/>
          </a:prstGeom>
          <a:noFill/>
          <a:ln/>
        </p:spPr>
        <p:txBody>
          <a:bodyPr wrap="square" lIns="0" tIns="0" rIns="0" bIns="0" rtlCol="0" anchor="ctr"/>
          <a:lstStyle/>
          <a:p>
            <a:pPr indent="0" marL="0">
              <a:buNone/>
            </a:pPr>
            <a:r>
              <a:rPr lang="en-US" sz="1200" b="1" dirty="0">
                <a:solidFill>
                  <a:srgbClr val="22303C"/>
                </a:solidFill>
              </a:rPr>
              <a:t>Workforce: </a:t>
            </a:r>
            <a:pPr indent="0" marL="0">
              <a:buNone/>
            </a:pPr>
            <a:r>
              <a:rPr lang="en-US" sz="1200" dirty="0">
                <a:solidFill>
                  <a:srgbClr val="22303C"/>
                </a:solidFill>
              </a:rPr>
              <a:t>reskill before automating</a:t>
            </a:r>
            <a:endParaRPr lang="en-US" sz="1200" dirty="0"/>
          </a:p>
        </p:txBody>
      </p:sp>
      <p:sp>
        <p:nvSpPr>
          <p:cNvPr id="19" name="Text 16"/>
          <p:cNvSpPr txBox="1"/>
          <p:nvPr/>
        </p:nvSpPr>
        <p:spPr>
          <a:xfrm>
            <a:off x="4663440" y="1097280"/>
            <a:ext cx="4023360" cy="320040"/>
          </a:xfrm>
          <a:prstGeom prst="rect">
            <a:avLst/>
          </a:prstGeom>
          <a:noFill/>
          <a:ln/>
        </p:spPr>
        <p:txBody>
          <a:bodyPr wrap="square" lIns="0" tIns="0" rIns="0" bIns="0" rtlCol="0" anchor="t"/>
          <a:lstStyle/>
          <a:p>
            <a:pPr indent="0" marL="0">
              <a:buNone/>
            </a:pPr>
            <a:r>
              <a:rPr lang="en-US" sz="1500" b="1" dirty="0">
                <a:solidFill>
                  <a:srgbClr val="14213D"/>
                </a:solidFill>
              </a:rPr>
              <a:t>KPIs to track</a:t>
            </a:r>
            <a:endParaRPr lang="en-US" sz="1500" dirty="0"/>
          </a:p>
        </p:txBody>
      </p:sp>
      <p:sp>
        <p:nvSpPr>
          <p:cNvPr id="20" name="Shape 17"/>
          <p:cNvSpPr/>
          <p:nvPr/>
        </p:nvSpPr>
        <p:spPr>
          <a:xfrm>
            <a:off x="4663440" y="1463040"/>
            <a:ext cx="1920240" cy="731520"/>
          </a:xfrm>
          <a:prstGeom prst="roundRect">
            <a:avLst>
              <a:gd name="adj" fmla="val 10000"/>
            </a:avLst>
          </a:prstGeom>
          <a:solidFill>
            <a:srgbClr val="0F8B8D"/>
          </a:solidFill>
          <a:ln w="12700">
            <a:solidFill>
              <a:srgbClr val="0F8B8D"/>
            </a:solidFill>
            <a:prstDash val="solid"/>
          </a:ln>
        </p:spPr>
      </p:sp>
      <p:sp>
        <p:nvSpPr>
          <p:cNvPr id="21" name="Text 18"/>
          <p:cNvSpPr txBox="1"/>
          <p:nvPr/>
        </p:nvSpPr>
        <p:spPr>
          <a:xfrm>
            <a:off x="4663440" y="1463040"/>
            <a:ext cx="1920240" cy="731520"/>
          </a:xfrm>
          <a:prstGeom prst="rect">
            <a:avLst/>
          </a:prstGeom>
          <a:noFill/>
          <a:ln/>
        </p:spPr>
        <p:txBody>
          <a:bodyPr wrap="square" lIns="0" tIns="0" rIns="0" bIns="0" rtlCol="0" anchor="ctr"/>
          <a:lstStyle/>
          <a:p>
            <a:pPr algn="ctr" indent="0" marL="0">
              <a:buNone/>
            </a:pPr>
            <a:r>
              <a:rPr lang="en-US" sz="1200" b="1" dirty="0">
                <a:solidFill>
                  <a:srgbClr val="FFFFFF"/>
                </a:solidFill>
              </a:rPr>
              <a:t>On-time delivery %</a:t>
            </a:r>
            <a:endParaRPr lang="en-US" sz="1200" dirty="0"/>
          </a:p>
        </p:txBody>
      </p:sp>
      <p:sp>
        <p:nvSpPr>
          <p:cNvPr id="22" name="Shape 19"/>
          <p:cNvSpPr/>
          <p:nvPr/>
        </p:nvSpPr>
        <p:spPr>
          <a:xfrm>
            <a:off x="6720840" y="1463040"/>
            <a:ext cx="1920240" cy="731520"/>
          </a:xfrm>
          <a:prstGeom prst="roundRect">
            <a:avLst>
              <a:gd name="adj" fmla="val 10000"/>
            </a:avLst>
          </a:prstGeom>
          <a:solidFill>
            <a:srgbClr val="0F8B8D"/>
          </a:solidFill>
          <a:ln w="12700">
            <a:solidFill>
              <a:srgbClr val="0F8B8D"/>
            </a:solidFill>
            <a:prstDash val="solid"/>
          </a:ln>
        </p:spPr>
      </p:sp>
      <p:sp>
        <p:nvSpPr>
          <p:cNvPr id="23" name="Text 20"/>
          <p:cNvSpPr txBox="1"/>
          <p:nvPr/>
        </p:nvSpPr>
        <p:spPr>
          <a:xfrm>
            <a:off x="6720840" y="1463040"/>
            <a:ext cx="1920240" cy="731520"/>
          </a:xfrm>
          <a:prstGeom prst="rect">
            <a:avLst/>
          </a:prstGeom>
          <a:noFill/>
          <a:ln/>
        </p:spPr>
        <p:txBody>
          <a:bodyPr wrap="square" lIns="0" tIns="0" rIns="0" bIns="0" rtlCol="0" anchor="ctr"/>
          <a:lstStyle/>
          <a:p>
            <a:pPr algn="ctr" indent="0" marL="0">
              <a:buNone/>
            </a:pPr>
            <a:r>
              <a:rPr lang="en-US" sz="1200" b="1" dirty="0">
                <a:solidFill>
                  <a:srgbClr val="FFFFFF"/>
                </a:solidFill>
              </a:rPr>
              <a:t>Fuel per km</a:t>
            </a:r>
            <a:endParaRPr lang="en-US" sz="1200" dirty="0"/>
          </a:p>
        </p:txBody>
      </p:sp>
      <p:sp>
        <p:nvSpPr>
          <p:cNvPr id="24" name="Shape 21"/>
          <p:cNvSpPr/>
          <p:nvPr/>
        </p:nvSpPr>
        <p:spPr>
          <a:xfrm>
            <a:off x="4663440" y="2331720"/>
            <a:ext cx="1920240" cy="731520"/>
          </a:xfrm>
          <a:prstGeom prst="roundRect">
            <a:avLst>
              <a:gd name="adj" fmla="val 10000"/>
            </a:avLst>
          </a:prstGeom>
          <a:solidFill>
            <a:srgbClr val="14213D"/>
          </a:solidFill>
          <a:ln w="12700">
            <a:solidFill>
              <a:srgbClr val="14213D"/>
            </a:solidFill>
            <a:prstDash val="solid"/>
          </a:ln>
        </p:spPr>
      </p:sp>
      <p:sp>
        <p:nvSpPr>
          <p:cNvPr id="25" name="Text 22"/>
          <p:cNvSpPr txBox="1"/>
          <p:nvPr/>
        </p:nvSpPr>
        <p:spPr>
          <a:xfrm>
            <a:off x="4663440" y="2331720"/>
            <a:ext cx="1920240" cy="731520"/>
          </a:xfrm>
          <a:prstGeom prst="rect">
            <a:avLst/>
          </a:prstGeom>
          <a:noFill/>
          <a:ln/>
        </p:spPr>
        <p:txBody>
          <a:bodyPr wrap="square" lIns="0" tIns="0" rIns="0" bIns="0" rtlCol="0" anchor="ctr"/>
          <a:lstStyle/>
          <a:p>
            <a:pPr algn="ctr" indent="0" marL="0">
              <a:buNone/>
            </a:pPr>
            <a:r>
              <a:rPr lang="en-US" sz="1200" b="1" dirty="0">
                <a:solidFill>
                  <a:srgbClr val="FFFFFF"/>
                </a:solidFill>
              </a:rPr>
              <a:t>Forecast error (MAPE)</a:t>
            </a:r>
            <a:endParaRPr lang="en-US" sz="1200" dirty="0"/>
          </a:p>
        </p:txBody>
      </p:sp>
      <p:sp>
        <p:nvSpPr>
          <p:cNvPr id="26" name="Shape 23"/>
          <p:cNvSpPr/>
          <p:nvPr/>
        </p:nvSpPr>
        <p:spPr>
          <a:xfrm>
            <a:off x="6720840" y="2331720"/>
            <a:ext cx="1920240" cy="731520"/>
          </a:xfrm>
          <a:prstGeom prst="roundRect">
            <a:avLst>
              <a:gd name="adj" fmla="val 10000"/>
            </a:avLst>
          </a:prstGeom>
          <a:solidFill>
            <a:srgbClr val="14213D"/>
          </a:solidFill>
          <a:ln w="12700">
            <a:solidFill>
              <a:srgbClr val="14213D"/>
            </a:solidFill>
            <a:prstDash val="solid"/>
          </a:ln>
        </p:spPr>
      </p:sp>
      <p:sp>
        <p:nvSpPr>
          <p:cNvPr id="27" name="Text 24"/>
          <p:cNvSpPr txBox="1"/>
          <p:nvPr/>
        </p:nvSpPr>
        <p:spPr>
          <a:xfrm>
            <a:off x="6720840" y="2331720"/>
            <a:ext cx="1920240" cy="731520"/>
          </a:xfrm>
          <a:prstGeom prst="rect">
            <a:avLst/>
          </a:prstGeom>
          <a:noFill/>
          <a:ln/>
        </p:spPr>
        <p:txBody>
          <a:bodyPr wrap="square" lIns="0" tIns="0" rIns="0" bIns="0" rtlCol="0" anchor="ctr"/>
          <a:lstStyle/>
          <a:p>
            <a:pPr algn="ctr" indent="0" marL="0">
              <a:buNone/>
            </a:pPr>
            <a:r>
              <a:rPr lang="en-US" sz="1200" b="1" dirty="0">
                <a:solidFill>
                  <a:srgbClr val="FFFFFF"/>
                </a:solidFill>
              </a:rPr>
              <a:t>Cost per drop</a:t>
            </a:r>
            <a:endParaRPr lang="en-US" sz="1200" dirty="0"/>
          </a:p>
        </p:txBody>
      </p:sp>
      <p:sp>
        <p:nvSpPr>
          <p:cNvPr id="28" name="Shape 25"/>
          <p:cNvSpPr/>
          <p:nvPr/>
        </p:nvSpPr>
        <p:spPr>
          <a:xfrm>
            <a:off x="4663440" y="3200400"/>
            <a:ext cx="1920240" cy="731520"/>
          </a:xfrm>
          <a:prstGeom prst="roundRect">
            <a:avLst>
              <a:gd name="adj" fmla="val 10000"/>
            </a:avLst>
          </a:prstGeom>
          <a:solidFill>
            <a:srgbClr val="F2A541"/>
          </a:solidFill>
          <a:ln w="12700">
            <a:solidFill>
              <a:srgbClr val="F2A541"/>
            </a:solidFill>
            <a:prstDash val="solid"/>
          </a:ln>
        </p:spPr>
      </p:sp>
      <p:sp>
        <p:nvSpPr>
          <p:cNvPr id="29" name="Text 26"/>
          <p:cNvSpPr txBox="1"/>
          <p:nvPr/>
        </p:nvSpPr>
        <p:spPr>
          <a:xfrm>
            <a:off x="4663440" y="3200400"/>
            <a:ext cx="1920240" cy="731520"/>
          </a:xfrm>
          <a:prstGeom prst="rect">
            <a:avLst/>
          </a:prstGeom>
          <a:noFill/>
          <a:ln/>
        </p:spPr>
        <p:txBody>
          <a:bodyPr wrap="square" lIns="0" tIns="0" rIns="0" bIns="0" rtlCol="0" anchor="ctr"/>
          <a:lstStyle/>
          <a:p>
            <a:pPr algn="ctr" indent="0" marL="0">
              <a:buNone/>
            </a:pPr>
            <a:r>
              <a:rPr lang="en-US" sz="1200" b="1" dirty="0">
                <a:solidFill>
                  <a:srgbClr val="FFFFFF"/>
                </a:solidFill>
              </a:rPr>
              <a:t>Warehouse throughput</a:t>
            </a:r>
            <a:endParaRPr lang="en-US" sz="1200" dirty="0"/>
          </a:p>
        </p:txBody>
      </p:sp>
      <p:sp>
        <p:nvSpPr>
          <p:cNvPr id="30" name="Shape 27"/>
          <p:cNvSpPr/>
          <p:nvPr/>
        </p:nvSpPr>
        <p:spPr>
          <a:xfrm>
            <a:off x="6720840" y="3200400"/>
            <a:ext cx="1920240" cy="731520"/>
          </a:xfrm>
          <a:prstGeom prst="roundRect">
            <a:avLst>
              <a:gd name="adj" fmla="val 10000"/>
            </a:avLst>
          </a:prstGeom>
          <a:solidFill>
            <a:srgbClr val="F2A541"/>
          </a:solidFill>
          <a:ln w="12700">
            <a:solidFill>
              <a:srgbClr val="F2A541"/>
            </a:solidFill>
            <a:prstDash val="solid"/>
          </a:ln>
        </p:spPr>
      </p:sp>
      <p:sp>
        <p:nvSpPr>
          <p:cNvPr id="31" name="Text 28"/>
          <p:cNvSpPr txBox="1"/>
          <p:nvPr/>
        </p:nvSpPr>
        <p:spPr>
          <a:xfrm>
            <a:off x="6720840" y="3200400"/>
            <a:ext cx="1920240" cy="731520"/>
          </a:xfrm>
          <a:prstGeom prst="rect">
            <a:avLst/>
          </a:prstGeom>
          <a:noFill/>
          <a:ln/>
        </p:spPr>
        <p:txBody>
          <a:bodyPr wrap="square" lIns="0" tIns="0" rIns="0" bIns="0" rtlCol="0" anchor="ctr"/>
          <a:lstStyle/>
          <a:p>
            <a:pPr algn="ctr" indent="0" marL="0">
              <a:buNone/>
            </a:pPr>
            <a:r>
              <a:rPr lang="en-US" sz="1200" b="1" dirty="0">
                <a:solidFill>
                  <a:srgbClr val="FFFFFF"/>
                </a:solidFill>
              </a:rPr>
              <a:t>Complaint rate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2514600"/>
            <a:ext cx="1280160" cy="64008"/>
          </a:xfrm>
          <a:prstGeom prst="rect">
            <a:avLst/>
          </a:prstGeom>
          <a:solidFill>
            <a:srgbClr val="F2A541"/>
          </a:solidFill>
          <a:ln w="12700">
            <a:solidFill>
              <a:srgbClr val="F2A541"/>
            </a:solidFill>
            <a:prstDash val="solid"/>
          </a:ln>
        </p:spPr>
      </p:sp>
      <p:sp>
        <p:nvSpPr>
          <p:cNvPr id="3" name="Text 1"/>
          <p:cNvSpPr txBox="1"/>
          <p:nvPr/>
        </p:nvSpPr>
        <p:spPr>
          <a:xfrm>
            <a:off x="548640" y="1051560"/>
            <a:ext cx="5669280" cy="914400"/>
          </a:xfrm>
          <a:prstGeom prst="rect">
            <a:avLst/>
          </a:prstGeom>
          <a:noFill/>
          <a:ln/>
        </p:spPr>
        <p:txBody>
          <a:bodyPr wrap="square" lIns="0" tIns="0" rIns="0" bIns="0" rtlCol="0" anchor="ctr"/>
          <a:lstStyle/>
          <a:p>
            <a:pPr indent="0" marL="0">
              <a:buNone/>
            </a:pPr>
            <a:r>
              <a:rPr lang="en-US" sz="3400" b="1" dirty="0">
                <a:solidFill>
                  <a:srgbClr val="FFFFFF"/>
                </a:solidFill>
              </a:rPr>
              <a:t>Thank you</a:t>
            </a:r>
            <a:endParaRPr lang="en-US" sz="3400" dirty="0"/>
          </a:p>
        </p:txBody>
      </p:sp>
      <p:sp>
        <p:nvSpPr>
          <p:cNvPr id="4" name="Text 2"/>
          <p:cNvSpPr txBox="1"/>
          <p:nvPr/>
        </p:nvSpPr>
        <p:spPr>
          <a:xfrm>
            <a:off x="548640" y="1920240"/>
            <a:ext cx="5669280" cy="548640"/>
          </a:xfrm>
          <a:prstGeom prst="rect">
            <a:avLst/>
          </a:prstGeom>
          <a:noFill/>
          <a:ln/>
        </p:spPr>
        <p:txBody>
          <a:bodyPr wrap="square" lIns="0" tIns="0" rIns="0" bIns="0" rtlCol="0" anchor="t"/>
          <a:lstStyle/>
          <a:p>
            <a:pPr indent="0" marL="0">
              <a:buNone/>
            </a:pPr>
            <a:r>
              <a:rPr lang="en-US" sz="1600" dirty="0">
                <a:solidFill>
                  <a:srgbClr val="C9D6E2"/>
                </a:solidFill>
              </a:rPr>
              <a:t>Questions and discussion welcome</a:t>
            </a:r>
            <a:endParaRPr lang="en-US" sz="1600" dirty="0"/>
          </a:p>
        </p:txBody>
      </p:sp>
      <p:sp>
        <p:nvSpPr>
          <p:cNvPr id="5" name="Text 3"/>
          <p:cNvSpPr txBox="1"/>
          <p:nvPr/>
        </p:nvSpPr>
        <p:spPr>
          <a:xfrm>
            <a:off x="548640" y="2743200"/>
            <a:ext cx="5669280" cy="365760"/>
          </a:xfrm>
          <a:prstGeom prst="rect">
            <a:avLst/>
          </a:prstGeom>
          <a:noFill/>
          <a:ln/>
        </p:spPr>
        <p:txBody>
          <a:bodyPr wrap="square" lIns="0" tIns="0" rIns="0" bIns="0" rtlCol="0" anchor="t"/>
          <a:lstStyle/>
          <a:p>
            <a:pPr indent="0" marL="0">
              <a:buNone/>
            </a:pPr>
            <a:r>
              <a:rPr lang="en-US" sz="1500" b="1" dirty="0">
                <a:solidFill>
                  <a:srgbClr val="F2A541"/>
                </a:solidFill>
              </a:rPr>
              <a:t>AI in Supply Chain &amp; Logistics</a:t>
            </a:r>
            <a:endParaRPr lang="en-US" sz="1500" dirty="0"/>
          </a:p>
        </p:txBody>
      </p:sp>
      <p:sp>
        <p:nvSpPr>
          <p:cNvPr id="7" name="Shape 5"/>
          <p:cNvSpPr/>
          <p:nvPr/>
        </p:nvSpPr>
        <p:spPr>
          <a:xfrm>
            <a:off x="6949440" y="1097280"/>
            <a:ext cx="1005840" cy="1005840"/>
          </a:xfrm>
          <a:prstGeom prst="ellipse">
            <a:avLst/>
          </a:prstGeom>
          <a:solidFill>
            <a:srgbClr val="0F8B8D"/>
          </a:solidFill>
          <a:ln w="12700">
            <a:solidFill>
              <a:srgbClr val="0F8B8D"/>
            </a:solidFill>
            <a:prstDash val="solid"/>
          </a:ln>
        </p:spPr>
      </p:sp>
      <p:pic>
        <p:nvPicPr>
          <p:cNvPr id="8" name="Image 0" descr="preencoded.png">    </p:cNvPr>
          <p:cNvPicPr>
            <a:picLocks noChangeAspect="1"/>
          </p:cNvPicPr>
          <p:nvPr/>
        </p:nvPicPr>
        <p:blipFill>
          <a:blip r:embed="rId1"/>
          <a:stretch>
            <a:fillRect/>
          </a:stretch>
        </p:blipFill>
        <p:spPr>
          <a:xfrm>
            <a:off x="7200900" y="1348740"/>
            <a:ext cx="502920" cy="502920"/>
          </a:xfrm>
          <a:prstGeom prst="rect">
            <a:avLst/>
          </a:prstGeom>
        </p:spPr>
      </p:pic>
      <p:sp>
        <p:nvSpPr>
          <p:cNvPr id="9" name="Shape 6"/>
          <p:cNvSpPr/>
          <p:nvPr/>
        </p:nvSpPr>
        <p:spPr>
          <a:xfrm>
            <a:off x="7680960" y="2103120"/>
            <a:ext cx="1005840" cy="100584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7932420" y="2354580"/>
            <a:ext cx="502920" cy="502920"/>
          </a:xfrm>
          <a:prstGeom prst="rect">
            <a:avLst/>
          </a:prstGeom>
        </p:spPr>
      </p:pic>
      <p:sp>
        <p:nvSpPr>
          <p:cNvPr id="11" name="Shape 7"/>
          <p:cNvSpPr/>
          <p:nvPr/>
        </p:nvSpPr>
        <p:spPr>
          <a:xfrm>
            <a:off x="6583680" y="2834640"/>
            <a:ext cx="1005840" cy="1005840"/>
          </a:xfrm>
          <a:prstGeom prst="ellipse">
            <a:avLst/>
          </a:prstGeom>
          <a:solidFill>
            <a:srgbClr val="3D5A80"/>
          </a:solidFill>
          <a:ln w="12700">
            <a:solidFill>
              <a:srgbClr val="3D5A80"/>
            </a:solidFill>
            <a:prstDash val="solid"/>
          </a:ln>
        </p:spPr>
      </p:sp>
      <p:pic>
        <p:nvPicPr>
          <p:cNvPr id="12" name="Image 2" descr="preencoded.png">    </p:cNvPr>
          <p:cNvPicPr>
            <a:picLocks noChangeAspect="1"/>
          </p:cNvPicPr>
          <p:nvPr/>
        </p:nvPicPr>
        <p:blipFill>
          <a:blip r:embed="rId3"/>
          <a:stretch>
            <a:fillRect/>
          </a:stretch>
        </p:blipFill>
        <p:spPr>
          <a:xfrm>
            <a:off x="6835140" y="308610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2026-10-17T10:53:23Z</dcterms:created>
  <dcterms:modified xsi:type="dcterms:W3CDTF">2026-10-17T10:53:23Z</dcterms:modified>
</cp:coreProperties>
</file>